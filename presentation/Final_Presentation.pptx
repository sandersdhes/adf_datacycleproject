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6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5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340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1FE17-3236-8E1D-6F22-75771C4D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DD4C2-ECE5-06AF-71F4-EDF28E7B8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BDB0A-3C1F-0FF3-E0E8-9F42FB1DB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AC642-989F-A972-28C9-5B5AE9D1B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410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andersdhes.github.io/ADF_DataCycleProject/bellevue_architectur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609600"/>
            <a:ext cx="54639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HES-SO BELLEVUE · ENERGY MONITORING · SPRINT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61564" y="650399"/>
            <a:ext cx="2388235" cy="18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 · ADF_DataCycleProject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028700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438638" cy="2426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900" b="1" kern="0" spc="-148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914400" y="5322570"/>
            <a:ext cx="863346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Azure data platform — on-prem ingestion, a Bronze / Silver / Gold medallion lakehouse, KNIME-driven ML forecasts, and dashboards in SAP Analytics Cloud and Power BI.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6551295"/>
            <a:ext cx="1711166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1047750" y="6703695"/>
            <a:ext cx="76200" cy="76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1200150" y="6627495"/>
            <a:ext cx="13682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58916" y="6551295"/>
            <a:ext cx="1827848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2892266" y="6703695"/>
            <a:ext cx="76200" cy="7620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3044666" y="6627495"/>
            <a:ext cx="14849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· PySpark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20114" y="6551295"/>
            <a:ext cx="1186815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4853464" y="6703695"/>
            <a:ext cx="76200" cy="76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5005864" y="6627495"/>
            <a:ext cx="8439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ADLS Gen2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40279" y="6551295"/>
            <a:ext cx="1131888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6173629" y="6703695"/>
            <a:ext cx="76200" cy="76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6326029" y="6627495"/>
            <a:ext cx="788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05516" y="6551295"/>
            <a:ext cx="1434782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7438866" y="6703695"/>
            <a:ext cx="76200" cy="76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7591266" y="6627495"/>
            <a:ext cx="14239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KNIME Server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73647" y="6551295"/>
            <a:ext cx="1434782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Shape 22"/>
          <p:cNvSpPr/>
          <p:nvPr/>
        </p:nvSpPr>
        <p:spPr>
          <a:xfrm>
            <a:off x="9016125" y="6703695"/>
            <a:ext cx="76200" cy="76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144000" y="6646545"/>
            <a:ext cx="1091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· SAC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039600" y="2286000"/>
            <a:ext cx="5334000" cy="72390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Shape 25"/>
          <p:cNvSpPr/>
          <p:nvPr/>
        </p:nvSpPr>
        <p:spPr>
          <a:xfrm>
            <a:off x="12039600" y="2286000"/>
            <a:ext cx="57150" cy="7239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12344400" y="2495550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658850" y="2519363"/>
            <a:ext cx="29252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· binary copy · ADLS Gen2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2039600" y="3181350"/>
            <a:ext cx="5334000" cy="7239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Shape 29"/>
          <p:cNvSpPr/>
          <p:nvPr/>
        </p:nvSpPr>
        <p:spPr>
          <a:xfrm>
            <a:off x="12039600" y="3181350"/>
            <a:ext cx="57150" cy="72390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12344400" y="3390900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3658850" y="3414713"/>
            <a:ext cx="29065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· cleaned · deduped · GDPR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2039600" y="4076700"/>
            <a:ext cx="5334000" cy="7239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12039600" y="4076700"/>
            <a:ext cx="57150" cy="7239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12344400" y="4286250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3658850" y="4310063"/>
            <a:ext cx="32290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· star schema · BI · ML · SAC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2039600" y="5257800"/>
            <a:ext cx="5334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13426282" y="5495925"/>
            <a:ext cx="61737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14272260" y="5495925"/>
            <a:ext cx="123221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2759075" y="9846469"/>
            <a:ext cx="1304020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9" name="Text 47"/>
          <p:cNvSpPr/>
          <p:nvPr/>
        </p:nvSpPr>
        <p:spPr>
          <a:xfrm>
            <a:off x="16027876" y="9758363"/>
            <a:ext cx="142192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 · MAY 2025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4716125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today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2417445"/>
            <a:ext cx="39733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312795"/>
            <a:ext cx="39733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743325"/>
            <a:ext cx="39733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context and objectives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14925" y="2417445"/>
            <a:ext cx="39733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114925" y="3312795"/>
            <a:ext cx="39733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Presentation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14925" y="3743325"/>
            <a:ext cx="39733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15450" y="2417445"/>
            <a:ext cx="39733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315450" y="3312795"/>
            <a:ext cx="39733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Organised the 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15450" y="3743325"/>
            <a:ext cx="39733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cadence, sprints, tooling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515975" y="2417445"/>
            <a:ext cx="39733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3515975" y="3312795"/>
            <a:ext cx="39733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Data 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515975" y="3743325"/>
            <a:ext cx="39733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view &amp; daily orchestration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6085523"/>
            <a:ext cx="39733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14400" y="6980873"/>
            <a:ext cx="39733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&amp; Gold Transformation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7411402"/>
            <a:ext cx="39733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Cleansing, dimensions, facts &amp; views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14925" y="6085523"/>
            <a:ext cx="39733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5114925" y="6980873"/>
            <a:ext cx="39733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14925" y="7411402"/>
            <a:ext cx="39733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KNIME Gradient Boosted Tree forecasts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15450" y="6085523"/>
            <a:ext cx="39733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9315450" y="6980873"/>
            <a:ext cx="39733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Dashboards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15450" y="7411402"/>
            <a:ext cx="39733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&amp; SAP Analytics Cloud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515975" y="6085523"/>
            <a:ext cx="397335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13515975" y="6980873"/>
            <a:ext cx="39733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Improvements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515975" y="7411402"/>
            <a:ext cx="39733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technical debt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59041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8653304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1864995"/>
            <a:ext cx="5904109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Objectives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849998" y="752475"/>
            <a:ext cx="183086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914400" y="2733675"/>
            <a:ext cx="844198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Context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13182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914400" y="3331845"/>
            <a:ext cx="8441987" cy="2543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HES-SO Bellevue campus runs </a:t>
            </a: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PV </a:t>
            </a:r>
            <a:r>
              <a:rPr lang="en-US" sz="19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energy meters, weather sensors, and a room-booking system. Data lives on-premises (SMB / SFTP shares on a Windows VM, IP </a:t>
            </a:r>
            <a:r>
              <a:rPr lang="en-US" sz="1794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10.130.25.152 </a:t>
            </a:r>
            <a:r>
              <a:rPr lang="en-US" sz="19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: </a:t>
            </a:r>
            <a:r>
              <a:rPr lang="en-US" sz="19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raw operational data into reliable analytics and forecasts that staff and management can use.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6329566"/>
            <a:ext cx="844198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Medallion Lakehouse?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6727711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1169417" y="7052627"/>
            <a:ext cx="786130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993647" y="7034212"/>
            <a:ext cx="44663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keeps raw fidelity &amp; traceability of source files.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169417" y="7481407"/>
            <a:ext cx="701040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870457" y="7438549"/>
            <a:ext cx="49480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isolates cleaning, GDPR masking, and dedup logic.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173904" y="7866539"/>
            <a:ext cx="604520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773937" y="7842885"/>
            <a:ext cx="5244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star schema in Azure SQL, ready for BI, ML, and SAC.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567704" y="2733675"/>
            <a:ext cx="7805896" cy="6753225"/>
          </a:xfrm>
          <a:prstGeom prst="roundRect">
            <a:avLst>
              <a:gd name="adj" fmla="val 1410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9843929" y="3009900"/>
            <a:ext cx="747105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843929" y="3408045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9843929" y="3646170"/>
            <a:ext cx="381000" cy="3810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9805829" y="364617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377329" y="3646170"/>
            <a:ext cx="41579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ingestion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377329" y="3960495"/>
            <a:ext cx="41579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sources via ADF + Self-Hosted Integration Runtime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843929" y="4389120"/>
            <a:ext cx="381000" cy="3810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805829" y="438912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377329" y="4389120"/>
            <a:ext cx="60566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+ DWH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377329" y="4703445"/>
            <a:ext cx="60566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/ Silver in ADLS Gen2 · Gold in Azure SQL · 8 dims · 7 facts · 9 views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843929" y="5132070"/>
            <a:ext cx="381000" cy="3810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9805829" y="513207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377329" y="5132070"/>
            <a:ext cx="59633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forecasts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377329" y="5446395"/>
            <a:ext cx="59633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production &amp; building consumption via KNIME Gradient Boosted Trees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843929" y="5875020"/>
            <a:ext cx="381000" cy="3810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9805829" y="587502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377329" y="5875020"/>
            <a:ext cx="54923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delivery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377329" y="6189345"/>
            <a:ext cx="54923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reports + SAC dashboards with RBAC &amp; Row-Level Security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57713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TEAM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6759146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 — HES-SO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1864995"/>
            <a:ext cx="5771337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ADF_DataCycleProject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685770" y="752475"/>
            <a:ext cx="176403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914400" y="2587625"/>
            <a:ext cx="9192577" cy="6899275"/>
          </a:xfrm>
          <a:prstGeom prst="roundRect">
            <a:avLst>
              <a:gd name="adj" fmla="val 1657"/>
            </a:avLst>
          </a:prstGeom>
          <a:ln w="9525">
            <a:solidFill>
              <a:srgbClr val="E5E7EB"/>
            </a:solidFill>
            <a:prstDash val="solid"/>
          </a:ln>
          <a:effectLst>
            <a:outerShdw blurRad="457200" dist="171450" dir="5400000" algn="bl" rotWithShape="0">
              <a:srgbClr val="152D47">
                <a:alpha val="18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925" y="2597150"/>
            <a:ext cx="9173527" cy="68802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64177" y="3547428"/>
            <a:ext cx="701370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0564177" y="4040823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Shape 7"/>
          <p:cNvSpPr/>
          <p:nvPr/>
        </p:nvSpPr>
        <p:spPr>
          <a:xfrm>
            <a:off x="10564177" y="4488498"/>
            <a:ext cx="6809423" cy="881063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Shape 8"/>
          <p:cNvSpPr/>
          <p:nvPr/>
        </p:nvSpPr>
        <p:spPr>
          <a:xfrm>
            <a:off x="10564177" y="4488498"/>
            <a:ext cx="38100" cy="88106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9"/>
          <p:cNvSpPr/>
          <p:nvPr/>
        </p:nvSpPr>
        <p:spPr>
          <a:xfrm>
            <a:off x="10811827" y="4769485"/>
            <a:ext cx="5905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497626" y="4659948"/>
            <a:ext cx="132868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Palau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97627" y="4940935"/>
            <a:ext cx="11463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🇪🇸 Spain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564177" y="5541010"/>
            <a:ext cx="6809423" cy="881063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Shape 13"/>
          <p:cNvSpPr/>
          <p:nvPr/>
        </p:nvSpPr>
        <p:spPr>
          <a:xfrm>
            <a:off x="10564177" y="5541010"/>
            <a:ext cx="38100" cy="88106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4"/>
          <p:cNvSpPr/>
          <p:nvPr/>
        </p:nvSpPr>
        <p:spPr>
          <a:xfrm>
            <a:off x="10811827" y="5821998"/>
            <a:ext cx="5905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1497627" y="5712460"/>
            <a:ext cx="19465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 Sanderson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97627" y="5993448"/>
            <a:ext cx="17189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🇨🇭 Switzerland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10564177" y="6593523"/>
            <a:ext cx="6809423" cy="881063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Shape 18"/>
          <p:cNvSpPr/>
          <p:nvPr/>
        </p:nvSpPr>
        <p:spPr>
          <a:xfrm>
            <a:off x="10564177" y="6593523"/>
            <a:ext cx="38100" cy="88106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19"/>
          <p:cNvSpPr/>
          <p:nvPr/>
        </p:nvSpPr>
        <p:spPr>
          <a:xfrm>
            <a:off x="10811827" y="6874510"/>
            <a:ext cx="5905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1497627" y="6764973"/>
            <a:ext cx="27620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S. Mesquita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497627" y="7045960"/>
            <a:ext cx="21807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🇵🇹 Portugal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0564177" y="7646035"/>
            <a:ext cx="6809423" cy="881063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Shape 23"/>
          <p:cNvSpPr/>
          <p:nvPr/>
        </p:nvSpPr>
        <p:spPr>
          <a:xfrm>
            <a:off x="10564177" y="7646035"/>
            <a:ext cx="38100" cy="88106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4"/>
          <p:cNvSpPr/>
          <p:nvPr/>
        </p:nvSpPr>
        <p:spPr>
          <a:xfrm>
            <a:off x="10811827" y="7927023"/>
            <a:ext cx="5905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11497627" y="7817485"/>
            <a:ext cx="19084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Adriel Ferreira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1497627" y="8098473"/>
            <a:ext cx="14789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🇷🇴 Romania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29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49876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HOW WE ORGANISED THE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4987622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Scrum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1913624"/>
            <a:ext cx="579247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Sprints · 39 User Stories · ~228 SP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773722" y="767716"/>
            <a:ext cx="175672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914400" y="2733675"/>
            <a:ext cx="633921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 &amp; Tooling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13182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7526179" y="2733675"/>
            <a:ext cx="9847421" cy="734378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7526179" y="2733675"/>
            <a:ext cx="38100" cy="73437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7735729" y="2941320"/>
            <a:ext cx="609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8459629" y="2867025"/>
            <a:ext cx="752648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— Setup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59629" y="3148013"/>
            <a:ext cx="7526481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Feb → 02 Mar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957391" y="3012599"/>
            <a:ext cx="406559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6478250" y="2950845"/>
            <a:ext cx="723900" cy="30003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16611600" y="3007995"/>
            <a:ext cx="533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7526179" y="3601403"/>
            <a:ext cx="9847421" cy="734377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7526179" y="3601403"/>
            <a:ext cx="38100" cy="73437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7735729" y="3809047"/>
            <a:ext cx="609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8459629" y="3734753"/>
            <a:ext cx="74391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— Core Ingestion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59629" y="4015740"/>
            <a:ext cx="743916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Mar → 16 Mar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5872618" y="3880326"/>
            <a:ext cx="491331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SP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6478250" y="3818572"/>
            <a:ext cx="723900" cy="30003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16611600" y="3875722"/>
            <a:ext cx="533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7526179" y="4469130"/>
            <a:ext cx="9847421" cy="734378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2" name="Shape 40"/>
          <p:cNvSpPr/>
          <p:nvPr/>
        </p:nvSpPr>
        <p:spPr>
          <a:xfrm>
            <a:off x="7526179" y="4469130"/>
            <a:ext cx="38100" cy="73437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3" name="Text 41"/>
          <p:cNvSpPr/>
          <p:nvPr/>
        </p:nvSpPr>
        <p:spPr>
          <a:xfrm>
            <a:off x="7735729" y="4676775"/>
            <a:ext cx="609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8459629" y="4602480"/>
            <a:ext cx="74391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— Security &amp; Monitoring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459629" y="4883468"/>
            <a:ext cx="743916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Mar → 30 Mar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5872618" y="4748054"/>
            <a:ext cx="491331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SP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6478250" y="4686300"/>
            <a:ext cx="723900" cy="30003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8" name="Text 46"/>
          <p:cNvSpPr/>
          <p:nvPr/>
        </p:nvSpPr>
        <p:spPr>
          <a:xfrm>
            <a:off x="16611600" y="4743450"/>
            <a:ext cx="533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7526179" y="5336857"/>
            <a:ext cx="9847421" cy="734377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0" name="Shape 48"/>
          <p:cNvSpPr/>
          <p:nvPr/>
        </p:nvSpPr>
        <p:spPr>
          <a:xfrm>
            <a:off x="7526179" y="5336857"/>
            <a:ext cx="38100" cy="73437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1" name="Text 49"/>
          <p:cNvSpPr/>
          <p:nvPr/>
        </p:nvSpPr>
        <p:spPr>
          <a:xfrm>
            <a:off x="7735729" y="5544502"/>
            <a:ext cx="609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52" name="Text 50"/>
          <p:cNvSpPr/>
          <p:nvPr/>
        </p:nvSpPr>
        <p:spPr>
          <a:xfrm>
            <a:off x="8459629" y="5470207"/>
            <a:ext cx="74391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 — Silver / Gold / ML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459629" y="5751195"/>
            <a:ext cx="743916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Mar → 13 Apr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5872618" y="5615781"/>
            <a:ext cx="491331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SP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6478250" y="5554027"/>
            <a:ext cx="723900" cy="30003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6" name="Text 54"/>
          <p:cNvSpPr/>
          <p:nvPr/>
        </p:nvSpPr>
        <p:spPr>
          <a:xfrm>
            <a:off x="16611600" y="5611177"/>
            <a:ext cx="533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7526179" y="6204585"/>
            <a:ext cx="9847421" cy="734378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8" name="Shape 56"/>
          <p:cNvSpPr/>
          <p:nvPr/>
        </p:nvSpPr>
        <p:spPr>
          <a:xfrm>
            <a:off x="7526179" y="6204585"/>
            <a:ext cx="38100" cy="73437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9" name="Text 57"/>
          <p:cNvSpPr/>
          <p:nvPr/>
        </p:nvSpPr>
        <p:spPr>
          <a:xfrm>
            <a:off x="7735729" y="6412230"/>
            <a:ext cx="609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60" name="Text 58"/>
          <p:cNvSpPr/>
          <p:nvPr/>
        </p:nvSpPr>
        <p:spPr>
          <a:xfrm>
            <a:off x="8459629" y="6337935"/>
            <a:ext cx="74391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 — BI &amp; KNIME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8459629" y="6618923"/>
            <a:ext cx="743916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Apr → 27 Apr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5872618" y="6483509"/>
            <a:ext cx="491331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SP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6478250" y="6421755"/>
            <a:ext cx="723900" cy="30003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4" name="Text 62"/>
          <p:cNvSpPr/>
          <p:nvPr/>
        </p:nvSpPr>
        <p:spPr>
          <a:xfrm>
            <a:off x="16611600" y="6478905"/>
            <a:ext cx="533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975" dirty="0"/>
          </a:p>
        </p:txBody>
      </p:sp>
      <p:sp>
        <p:nvSpPr>
          <p:cNvPr id="65" name="Shape 63"/>
          <p:cNvSpPr/>
          <p:nvPr/>
        </p:nvSpPr>
        <p:spPr>
          <a:xfrm>
            <a:off x="7526179" y="7072313"/>
            <a:ext cx="9847421" cy="734378"/>
          </a:xfrm>
          <a:prstGeom prst="roundRect">
            <a:avLst>
              <a:gd name="adj" fmla="val 7782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6" name="Shape 64"/>
          <p:cNvSpPr/>
          <p:nvPr/>
        </p:nvSpPr>
        <p:spPr>
          <a:xfrm>
            <a:off x="7526179" y="7072313"/>
            <a:ext cx="38100" cy="73437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7" name="Text 65"/>
          <p:cNvSpPr/>
          <p:nvPr/>
        </p:nvSpPr>
        <p:spPr>
          <a:xfrm>
            <a:off x="7735729" y="7279957"/>
            <a:ext cx="609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68" name="Text 66"/>
          <p:cNvSpPr/>
          <p:nvPr/>
        </p:nvSpPr>
        <p:spPr>
          <a:xfrm>
            <a:off x="8459629" y="7205663"/>
            <a:ext cx="70516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6 — Docs &amp; Deployment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8459629" y="7486650"/>
            <a:ext cx="7051640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Apr → 08 May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5496381" y="7351236"/>
            <a:ext cx="491331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SP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6102013" y="7289482"/>
            <a:ext cx="1100138" cy="30003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2" name="Text 70"/>
          <p:cNvSpPr/>
          <p:nvPr/>
        </p:nvSpPr>
        <p:spPr>
          <a:xfrm>
            <a:off x="16235362" y="7346632"/>
            <a:ext cx="90963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In Progress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74" name="Shape 72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5" name="Text 73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19</a:t>
            </a:r>
            <a:endParaRPr lang="en-US" sz="900" dirty="0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763E94B6-894F-05ED-34D5-794AEC9F96EA}"/>
              </a:ext>
            </a:extLst>
          </p:cNvPr>
          <p:cNvSpPr/>
          <p:nvPr/>
        </p:nvSpPr>
        <p:spPr>
          <a:xfrm>
            <a:off x="914400" y="3149873"/>
            <a:ext cx="6364129" cy="421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endParaRPr lang="en-US" dirty="0">
              <a:solidFill>
                <a:srgbClr val="4C4C4D"/>
              </a:solidFill>
              <a:latin typeface="Arial" panose="020B0604020202020204" pitchFamily="34" charset="0"/>
              <a:ea typeface="Heebo" pitchFamily="34" charset="-122"/>
              <a:cs typeface="Arial" panose="020B0604020202020204" pitchFamily="34" charset="0"/>
            </a:endParaRPr>
          </a:p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 err="1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MoSCoW</a:t>
            </a:r>
            <a:r>
              <a:rPr lang="en-US" dirty="0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 prioritisation per user story</a:t>
            </a:r>
          </a:p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Planning poker sizing</a:t>
            </a:r>
          </a:p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Two-week sprints with with a weekly alignment meeting</a:t>
            </a:r>
          </a:p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GitHub Repository for Code and documentation</a:t>
            </a:r>
          </a:p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>
                <a:solidFill>
                  <a:srgbClr val="4C4C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WhatsApp and Teams for communication</a:t>
            </a:r>
          </a:p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>
                <a:solidFill>
                  <a:srgbClr val="4C4C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Product Backlog on Teams</a:t>
            </a:r>
          </a:p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GitHub Actions on push to main — OIDC, no secrets</a:t>
            </a:r>
          </a:p>
          <a:p>
            <a:pPr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Architecture diagrams in Mermaid + HTML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06805"/>
            <a:ext cx="92744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449705"/>
            <a:ext cx="9274429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Lakehouse on Azure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5626397" y="685800"/>
            <a:ext cx="182340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2438400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sources flow through Azure Data Factory into a three-layer lakehouse, then into Azure SQL for BI and ML consumption.</a:t>
            </a:r>
          </a:p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4C4C4D"/>
                </a:solidFill>
                <a:latin typeface="Arial" pitchFamily="34" charset="0"/>
                <a:cs typeface="Arial" pitchFamily="34" charset="-120"/>
              </a:rPr>
              <a:t>Demo : </a:t>
            </a:r>
            <a:r>
              <a:rPr lang="en-US" sz="1950" dirty="0">
                <a:solidFill>
                  <a:srgbClr val="4C4C4D"/>
                </a:solidFill>
                <a:latin typeface="Arial" pitchFamily="34" charset="0"/>
                <a:cs typeface="Arial" pitchFamily="34" charset="-120"/>
                <a:hlinkClick r:id="rId3"/>
              </a:rPr>
              <a:t>Link here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Text 6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19</a:t>
            </a:r>
            <a:endParaRPr lang="en-US" sz="9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0F8D6D24-5596-AE8B-C731-3722DFF0B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021" y="3312795"/>
            <a:ext cx="104851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21980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ARCHITECTURE — 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2198033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Where, and How It’s Secured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399" y="2131695"/>
            <a:ext cx="7846542" cy="3656931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1190625" y="2407920"/>
            <a:ext cx="1152684" cy="3143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1323975" y="2465070"/>
            <a:ext cx="9621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90625" y="2874645"/>
            <a:ext cx="349262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0625" y="3348990"/>
            <a:ext cx="3492627" cy="220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group3-df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9 pipelines · 19 datasets · 10 linked services.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daily triggers fire the cycle: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TRG_Daily_0715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TRG_Daily_0930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175D52F-5ED8-CB24-1AD8-8987E9CA50F9}"/>
              </a:ext>
            </a:extLst>
          </p:cNvPr>
          <p:cNvGrpSpPr/>
          <p:nvPr/>
        </p:nvGrpSpPr>
        <p:grpSpPr>
          <a:xfrm>
            <a:off x="9527058" y="2131694"/>
            <a:ext cx="7846542" cy="3656932"/>
            <a:chOff x="9258300" y="2131695"/>
            <a:chExt cx="3943350" cy="3656932"/>
          </a:xfrm>
        </p:grpSpPr>
        <p:sp>
          <p:nvSpPr>
            <p:cNvPr id="14" name="Shape 12"/>
            <p:cNvSpPr/>
            <p:nvPr/>
          </p:nvSpPr>
          <p:spPr>
            <a:xfrm>
              <a:off x="9258300" y="2131695"/>
              <a:ext cx="3943350" cy="3656932"/>
            </a:xfrm>
            <a:prstGeom prst="roundRect">
              <a:avLst>
                <a:gd name="adj" fmla="val 2415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5" name="Shape 13"/>
            <p:cNvSpPr/>
            <p:nvPr/>
          </p:nvSpPr>
          <p:spPr>
            <a:xfrm>
              <a:off x="9534525" y="2407920"/>
              <a:ext cx="748425" cy="3143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/>
          </p:spPr>
          <p:txBody>
            <a:bodyPr/>
            <a:lstStyle/>
            <a:p>
              <a:endParaRPr lang="en-CH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590415" y="2454356"/>
              <a:ext cx="658546" cy="2381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kern="0" spc="42" dirty="0">
                  <a:solidFill>
                    <a:srgbClr val="92400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Storage &amp; Serving</a:t>
              </a:r>
              <a:endParaRPr lang="en-US" sz="1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9534525" y="2874645"/>
              <a:ext cx="3492627" cy="36004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950" b="1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ADLS Gen2 · Azure SQL</a:t>
              </a:r>
              <a:endParaRPr lang="en-US" sz="1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534525" y="3348990"/>
              <a:ext cx="3492627" cy="211269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ADLS containers: 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bronze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silver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mldata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sacexport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config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50" b="1" dirty="0" err="1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DevDB</a:t>
              </a:r>
              <a:r>
                <a:rPr lang="en-US" sz="1350" b="1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serverless Gen5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 dims · 7 facts · 9 analytical views.</a:t>
              </a:r>
              <a:endParaRPr lang="en-US" sz="13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488EE2B-31D8-CDA4-D9B6-02727405E906}"/>
              </a:ext>
            </a:extLst>
          </p:cNvPr>
          <p:cNvGrpSpPr/>
          <p:nvPr/>
        </p:nvGrpSpPr>
        <p:grpSpPr>
          <a:xfrm>
            <a:off x="9527760" y="5989080"/>
            <a:ext cx="7845840" cy="3731182"/>
            <a:chOff x="13430250" y="2131694"/>
            <a:chExt cx="3943350" cy="4864704"/>
          </a:xfrm>
        </p:grpSpPr>
        <p:sp>
          <p:nvSpPr>
            <p:cNvPr id="19" name="Shape 17"/>
            <p:cNvSpPr/>
            <p:nvPr/>
          </p:nvSpPr>
          <p:spPr>
            <a:xfrm>
              <a:off x="13430250" y="2131694"/>
              <a:ext cx="3943350" cy="4767896"/>
            </a:xfrm>
            <a:prstGeom prst="roundRect">
              <a:avLst>
                <a:gd name="adj" fmla="val 2415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0" name="Shape 18"/>
            <p:cNvSpPr/>
            <p:nvPr/>
          </p:nvSpPr>
          <p:spPr>
            <a:xfrm>
              <a:off x="13706475" y="2426226"/>
              <a:ext cx="748164" cy="296018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21" name="Text 19"/>
            <p:cNvSpPr/>
            <p:nvPr/>
          </p:nvSpPr>
          <p:spPr>
            <a:xfrm>
              <a:off x="13772986" y="2497030"/>
              <a:ext cx="614814" cy="2252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42" dirty="0">
                  <a:solidFill>
                    <a:srgbClr val="16653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Security &amp; CI/CD</a:t>
              </a:r>
              <a:endParaRPr lang="en-US" sz="10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3706475" y="2874645"/>
              <a:ext cx="3492627" cy="36004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70000" lnSpcReduction="2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950" b="1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Vault · UAMI · RLS</a:t>
              </a:r>
              <a:endParaRPr lang="en-US" sz="19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3706475" y="3348990"/>
              <a:ext cx="3492627" cy="364740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DataCycleGroup3Keys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Vault.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42" dirty="0" err="1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gh-datacycle-oidc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UAMI — OIDC, no client secrets.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 SQL roles: </a:t>
              </a:r>
              <a:r>
                <a:rPr lang="en-US" sz="1242" dirty="0" err="1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Director_Role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Teacher_Role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en-US" sz="1242" dirty="0" err="1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Technician_Role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RLS 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BookingDivisionFilter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restricts 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fact_room_booking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 division for Directors &amp; Teachers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42" dirty="0" err="1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validate.yml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 PR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deploy-</a:t>
              </a:r>
              <a:r>
                <a:rPr lang="en-US" sz="1242" dirty="0" err="1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adf.yml</a:t>
              </a:r>
              <a:r>
                <a:rPr lang="en-US" sz="1242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3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 main.</a:t>
              </a:r>
              <a:endParaRPr lang="en-US" sz="135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19</a:t>
            </a:r>
            <a:endParaRPr lang="en-US" sz="9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2612AF8-B864-0481-B55C-5E5B210518D8}"/>
              </a:ext>
            </a:extLst>
          </p:cNvPr>
          <p:cNvGrpSpPr/>
          <p:nvPr/>
        </p:nvGrpSpPr>
        <p:grpSpPr>
          <a:xfrm>
            <a:off x="914399" y="5989081"/>
            <a:ext cx="7845841" cy="3656932"/>
            <a:chOff x="914400" y="5989081"/>
            <a:chExt cx="3943350" cy="365693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C7127D6-F723-CDE5-06D1-2DF0A0C1EF43}"/>
                </a:ext>
              </a:extLst>
            </p:cNvPr>
            <p:cNvGrpSpPr/>
            <p:nvPr/>
          </p:nvGrpSpPr>
          <p:grpSpPr>
            <a:xfrm>
              <a:off x="914400" y="5989081"/>
              <a:ext cx="3943350" cy="3656932"/>
              <a:chOff x="5086350" y="2182017"/>
              <a:chExt cx="3943350" cy="3656932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5086350" y="2182017"/>
                <a:ext cx="3943350" cy="3656932"/>
              </a:xfrm>
              <a:prstGeom prst="roundRect">
                <a:avLst>
                  <a:gd name="adj" fmla="val 2415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endParaRPr lang="en-CH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5362576" y="2407920"/>
                <a:ext cx="650916" cy="314325"/>
              </a:xfrm>
              <a:prstGeom prst="roundRect">
                <a:avLst>
                  <a:gd name="adj" fmla="val 50000"/>
                </a:avLst>
              </a:prstGeom>
              <a:solidFill>
                <a:srgbClr val="FEE4E2"/>
              </a:solidFill>
              <a:ln/>
            </p:spPr>
            <p:txBody>
              <a:bodyPr/>
              <a:lstStyle/>
              <a:p>
                <a:endParaRPr lang="en-CH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5362575" y="2874645"/>
                <a:ext cx="3492627" cy="36004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1950" b="1" dirty="0">
                    <a:solidFill>
                      <a:srgbClr val="152D4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Databricks · KNIME</a:t>
                </a:r>
                <a:endParaRPr lang="en-US" sz="195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5362575" y="3348990"/>
                <a:ext cx="3492627" cy="22042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1350" dirty="0">
                    <a:solidFill>
                      <a:srgbClr val="4C4C4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6 PySpark notebooks on a single interactive cluster, JDBC with retry-backoff.</a:t>
                </a:r>
              </a:p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1350" b="1" dirty="0">
                    <a:solidFill>
                      <a:srgbClr val="152D4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KNIME Server </a:t>
                </a:r>
                <a:r>
                  <a:rPr lang="en-US" sz="1350" dirty="0">
                    <a:solidFill>
                      <a:srgbClr val="4C4C4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— </a:t>
                </a:r>
                <a:r>
                  <a:rPr lang="en-US" sz="1242" dirty="0" err="1">
                    <a:solidFill>
                      <a:srgbClr val="0F172A"/>
                    </a:solidFill>
                    <a:highlight>
                      <a:srgbClr val="F1F5F9"/>
                    </a:highlight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Model_Selection</a:t>
                </a:r>
                <a:r>
                  <a:rPr lang="en-US" sz="1242" dirty="0">
                    <a:solidFill>
                      <a:srgbClr val="0F172A"/>
                    </a:solidFill>
                    <a:highlight>
                      <a:srgbClr val="F1F5F9"/>
                    </a:highlight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350" dirty="0">
                    <a:solidFill>
                      <a:srgbClr val="4C4C4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runs weekly and benchmarks 4 algorithms (GBT, LR, RF, Simple Tree)</a:t>
                </a:r>
              </a:p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1350" dirty="0">
                    <a:solidFill>
                      <a:srgbClr val="4C4C4D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 REST endpoints.</a:t>
                </a:r>
                <a:endParaRPr lang="en-US" sz="1350" dirty="0"/>
              </a:p>
            </p:txBody>
          </p:sp>
        </p:grpSp>
        <p:sp>
          <p:nvSpPr>
            <p:cNvPr id="11" name="Text 9"/>
            <p:cNvSpPr/>
            <p:nvPr/>
          </p:nvSpPr>
          <p:spPr>
            <a:xfrm>
              <a:off x="1253649" y="6254679"/>
              <a:ext cx="1026636" cy="2381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kern="0" spc="42" dirty="0">
                  <a:solidFill>
                    <a:srgbClr val="B91C1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Compute &amp; ML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59444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5944497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Orchestration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1864995"/>
            <a:ext cx="5944497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ADF triggers drive the entire cycle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700851" y="752475"/>
            <a:ext cx="174894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914400" y="2733675"/>
            <a:ext cx="8058150" cy="4149039"/>
          </a:xfrm>
          <a:prstGeom prst="roundRect">
            <a:avLst>
              <a:gd name="adj" fmla="val 1633"/>
            </a:avLst>
          </a:prstGeom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923925" y="2743200"/>
            <a:ext cx="8039100" cy="1157288"/>
          </a:xfrm>
          <a:prstGeom prst="rect">
            <a:avLst/>
          </a:prstGeom>
          <a:solidFill>
            <a:srgbClr val="152D47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1228725" y="2998152"/>
            <a:ext cx="2569051" cy="19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TRG_DAILY_0715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28725" y="3281363"/>
            <a:ext cx="2569051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07:15 · Full ETL</a:t>
            </a:r>
            <a:endParaRPr lang="en-US" sz="31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228725" y="4167188"/>
            <a:ext cx="76523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 → Gold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28725" y="4624864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1323975" y="4662964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66741" y="4622482"/>
            <a:ext cx="35353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PL_Ingest_Bronze — 4 parallel sub-pipelines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28725" y="4977289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1323975" y="5015389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66741" y="4974907"/>
            <a:ext cx="18969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silver_transformation.py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28725" y="5329714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1323975" y="5367814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66741" y="5327332"/>
            <a:ext cx="40694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silver_gold_dimensions.py ‖ ml_export_to_knime.py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28725" y="5682139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1323975" y="5720239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66741" y="5679757"/>
            <a:ext cx="15824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silver_gold_facts.py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28725" y="6034564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1323975" y="6072664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07:40</a:t>
            </a:r>
          </a:p>
        </p:txBody>
      </p:sp>
      <p:sp>
        <p:nvSpPr>
          <p:cNvPr id="26" name="Text 24"/>
          <p:cNvSpPr/>
          <p:nvPr/>
        </p:nvSpPr>
        <p:spPr>
          <a:xfrm>
            <a:off x="1866741" y="6032182"/>
            <a:ext cx="28763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PL_SAC_Export → Azure File Share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15450" y="2733675"/>
            <a:ext cx="8058150" cy="4149039"/>
          </a:xfrm>
          <a:prstGeom prst="roundRect">
            <a:avLst>
              <a:gd name="adj" fmla="val 1633"/>
            </a:avLst>
          </a:prstGeom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9324975" y="2743200"/>
            <a:ext cx="8039100" cy="1157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9629775" y="2998152"/>
            <a:ext cx="4544013" cy="19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TRG_DAILY_0930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29774" y="3281363"/>
            <a:ext cx="454401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· KNIME Predictions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16398875" y="2971800"/>
            <a:ext cx="7366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9629775" y="4167188"/>
            <a:ext cx="765238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PL_Upload_Pred_Gold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629775" y="4624864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9725025" y="4662964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67792" y="4622482"/>
            <a:ext cx="2297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Data_Preparation (every run)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629775" y="4977289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9725025" y="5015389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67792" y="4974907"/>
            <a:ext cx="25644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Model_Selection (Mondays only)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629775" y="5329714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9725025" y="5367814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267792" y="5327332"/>
            <a:ext cx="30972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predictor ‖ Consumption predictor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629775" y="5682139"/>
            <a:ext cx="504666" cy="252413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3" name="Text 41"/>
          <p:cNvSpPr/>
          <p:nvPr/>
        </p:nvSpPr>
        <p:spPr>
          <a:xfrm>
            <a:off x="9725025" y="5720239"/>
            <a:ext cx="39036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09:50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267792" y="5679757"/>
            <a:ext cx="435531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ml_load_predictions.py + sp_backfill_prediction_actuals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14400" y="7189045"/>
            <a:ext cx="16678275" cy="2173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07:15 trigger runs the full Bronze → Silver → Gold ETL chain.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09:30 trigger fires KNIME inference and loads predictions into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fact_energy_prediction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b="1" dirty="0" err="1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Model_Selection</a:t>
            </a: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re-evaluates the active model on Mondays only, keeping the pipeline fully deterministic.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itchFamily="34" charset="0"/>
                <a:cs typeface="Arial" pitchFamily="34" charset="-120"/>
              </a:rPr>
              <a:t>In case of an error during the process, an email is automatically send to all the team via Azure.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8" name="Text 46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7389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DATA FLOW — BRONZE INGESTION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8738926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PL_Bronze_*</a:t>
            </a:r>
            <a:endParaRPr lang="en-US" sz="4800" b="1" dirty="0"/>
          </a:p>
        </p:txBody>
      </p:sp>
      <p:sp>
        <p:nvSpPr>
          <p:cNvPr id="4" name="Text 2"/>
          <p:cNvSpPr/>
          <p:nvPr/>
        </p:nvSpPr>
        <p:spPr>
          <a:xfrm>
            <a:off x="914399" y="1864995"/>
            <a:ext cx="1415934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binary copy via Self-Hosted Integration Runtime into the bronze ADLS Container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2619375"/>
            <a:ext cx="844198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Shape — 4 steps per sub-pipeline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1059302" y="3338902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2D47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1040252" y="335795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26052" y="3338902"/>
            <a:ext cx="27484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GetMetadata · Source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726052" y="3653227"/>
            <a:ext cx="27484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files on the SMB / SFTP share.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205769" y="3343188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2D47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5186719" y="336223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872519" y="3343188"/>
            <a:ext cx="25423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GetMetadata · Destination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872519" y="3657513"/>
            <a:ext cx="25423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files already in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bronze/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59302" y="4267166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2D47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1040252" y="428621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26052" y="4267166"/>
            <a:ext cx="29361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26052" y="4581491"/>
            <a:ext cx="29361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filenames not yet ingested.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202668" y="4375036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2D47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5183618" y="439408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869418" y="4375036"/>
            <a:ext cx="27581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 (batch 50) · Copy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869418" y="4689361"/>
            <a:ext cx="27581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Copy →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bronze/&lt;area&gt;/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567704" y="2619375"/>
            <a:ext cx="8040073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Sub-pipelines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67704" y="301752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9567704" y="3217545"/>
            <a:ext cx="7805896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9767729" y="3465195"/>
            <a:ext cx="95250" cy="9525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9977279" y="3398520"/>
            <a:ext cx="1619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PL_Bronze_Solar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67729" y="3684270"/>
            <a:ext cx="76280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Sungrow inverter CSVs (UTF-8) + PV daily rollups (UTF-16 LE).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567704" y="4255770"/>
            <a:ext cx="7805896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9767729" y="4503420"/>
            <a:ext cx="95250" cy="9525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9977279" y="4436745"/>
            <a:ext cx="1619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PL_Bronze_Conso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67729" y="4722495"/>
            <a:ext cx="76280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/ temperature / humidity. Dynamic folder routing by filename prefix.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567704" y="5293995"/>
            <a:ext cx="7805896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9767729" y="5541645"/>
            <a:ext cx="95250" cy="952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9977279" y="5474970"/>
            <a:ext cx="19278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PL_Bronze_Bookings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767729" y="5760720"/>
            <a:ext cx="76280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reservations (TSV). French dates parsed in Silver.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567704" y="6332220"/>
            <a:ext cx="7805896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Shape 36"/>
          <p:cNvSpPr/>
          <p:nvPr/>
        </p:nvSpPr>
        <p:spPr>
          <a:xfrm>
            <a:off x="9767729" y="6579870"/>
            <a:ext cx="95250" cy="952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/>
          <p:nvPr/>
        </p:nvSpPr>
        <p:spPr>
          <a:xfrm>
            <a:off x="9977279" y="6513195"/>
            <a:ext cx="1619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PL_Bronze_Meteo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767729" y="6798945"/>
            <a:ext cx="76280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weather via SFTP.</a:t>
            </a:r>
            <a:endParaRPr lang="en-US" sz="135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91297FD-E96F-FC91-EA71-F24870A2785C}"/>
              </a:ext>
            </a:extLst>
          </p:cNvPr>
          <p:cNvGrpSpPr/>
          <p:nvPr/>
        </p:nvGrpSpPr>
        <p:grpSpPr>
          <a:xfrm>
            <a:off x="914400" y="7885241"/>
            <a:ext cx="16814673" cy="1646484"/>
            <a:chOff x="892249" y="8584406"/>
            <a:chExt cx="16814673" cy="826294"/>
          </a:xfrm>
        </p:grpSpPr>
        <p:sp>
          <p:nvSpPr>
            <p:cNvPr id="41" name="Shape 39"/>
            <p:cNvSpPr/>
            <p:nvPr/>
          </p:nvSpPr>
          <p:spPr>
            <a:xfrm>
              <a:off x="892249" y="8584406"/>
              <a:ext cx="16459200" cy="826294"/>
            </a:xfrm>
            <a:prstGeom prst="roundRect">
              <a:avLst>
                <a:gd name="adj" fmla="val 6916"/>
              </a:avLst>
            </a:prstGeom>
            <a:solidFill>
              <a:srgbClr val="FFF7ED"/>
            </a:solidFill>
            <a:ln/>
          </p:spPr>
          <p:txBody>
            <a:bodyPr/>
            <a:lstStyle/>
            <a:p>
              <a:endParaRPr lang="en-CH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939190" y="8584406"/>
              <a:ext cx="38100" cy="826294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43" name="Text 41"/>
            <p:cNvSpPr/>
            <p:nvPr/>
          </p:nvSpPr>
          <p:spPr>
            <a:xfrm>
              <a:off x="1162050" y="8935562"/>
              <a:ext cx="285750" cy="3143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⚠️</a:t>
              </a:r>
              <a:endParaRPr lang="en-US" sz="16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1578049" y="8706805"/>
              <a:ext cx="16128873" cy="5595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PL_Bronze_MeteoFuture </a:t>
              </a:r>
              <a:r>
                <a:rPr lang="en-US" sz="160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exists but is </a:t>
              </a:r>
              <a:r>
                <a:rPr lang="en-US" sz="1600" b="1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not wired into </a:t>
              </a:r>
              <a:r>
                <a:rPr lang="en-US" sz="1600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PL_Ingest_Bronze </a:t>
              </a:r>
              <a:r>
                <a:rPr lang="en-US" sz="160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It must be triggered manually from ADF Studio whenever fresh future-forecast files arrive on the SFTP share.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second known limitation: </a:t>
              </a:r>
              <a:r>
                <a:rPr lang="en-US" sz="1600" dirty="0">
                  <a:solidFill>
                    <a:srgbClr val="0F172A"/>
                  </a:solidFill>
                  <a:highlight>
                    <a:srgbClr val="F1F5F9"/>
                  </a:highlight>
                  <a:latin typeface="Arial" pitchFamily="34" charset="0"/>
                  <a:ea typeface="Arial" pitchFamily="34" charset="-122"/>
                  <a:cs typeface="Arial" pitchFamily="34" charset="-120"/>
                </a:rPr>
                <a:t>silver/weather_future_forecasts/ </a:t>
              </a:r>
              <a:r>
                <a:rPr lang="en-US" sz="160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currently mirrors historical Sierre data — the future-forecast synthesis logic is not yet applied it.</a:t>
              </a:r>
              <a:endParaRPr lang="en-US" sz="1600" dirty="0"/>
            </a:p>
          </p:txBody>
        </p:sp>
      </p:grpSp>
      <p:sp>
        <p:nvSpPr>
          <p:cNvPr id="45" name="Text 43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7" name="Text 45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19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A03A456-099C-8563-1AE7-F6D83CDD4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15" y="5279964"/>
            <a:ext cx="7772400" cy="1962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6969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SILVER 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9696946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silver_transformation.py</a:t>
            </a:r>
            <a:endParaRPr lang="en-US" sz="4800" b="1" dirty="0"/>
          </a:p>
        </p:txBody>
      </p:sp>
      <p:sp>
        <p:nvSpPr>
          <p:cNvPr id="4" name="Text 2"/>
          <p:cNvSpPr/>
          <p:nvPr/>
        </p:nvSpPr>
        <p:spPr>
          <a:xfrm>
            <a:off x="914400" y="1864995"/>
            <a:ext cx="969694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CSV → Silver Parquet // Managed in Databricks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615920" y="752475"/>
            <a:ext cx="183388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914400" y="2657475"/>
            <a:ext cx="3971925" cy="3062288"/>
          </a:xfrm>
          <a:prstGeom prst="roundRect">
            <a:avLst>
              <a:gd name="adj" fmla="val 31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1133475" y="2876550"/>
            <a:ext cx="36397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UTF-16 BOM Cleanup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33475" y="3244215"/>
            <a:ext cx="3639788" cy="2306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translate(col, '\u0000', '')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regex — handles UTF-16 LE files (PV, conso, temp, humidity).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76825" y="2657475"/>
            <a:ext cx="3971925" cy="3062288"/>
          </a:xfrm>
          <a:prstGeom prst="roundRect">
            <a:avLst>
              <a:gd name="adj" fmla="val 31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5295900" y="2876550"/>
            <a:ext cx="36397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Date Parsing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295900" y="3244215"/>
            <a:ext cx="3639788" cy="2306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regexp_extract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dd.MM.yy and dd.MM.yyyy →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coalesce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survives mixed source formats across energy meter files.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39250" y="2657475"/>
            <a:ext cx="3971925" cy="3062288"/>
          </a:xfrm>
          <a:prstGeom prst="roundRect">
            <a:avLst>
              <a:gd name="adj" fmla="val 31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9458325" y="2876550"/>
            <a:ext cx="36397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Unpivot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458325" y="3244215"/>
            <a:ext cx="3639788" cy="2306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inverters per wide row →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array&lt;struct&gt;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explode()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one row per inverter per 5-min slot.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401675" y="2657475"/>
            <a:ext cx="3971925" cy="3062288"/>
          </a:xfrm>
          <a:prstGeom prst="roundRect">
            <a:avLst>
              <a:gd name="adj" fmla="val 31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13620750" y="2876550"/>
            <a:ext cx="36397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Counter-Reset Logic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620750" y="3244215"/>
            <a:ext cx="3639788" cy="2306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meter decreases ⇒ delta =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lag()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re-derives clean deltas downstream. Applies to PV &amp; consumption.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5910263"/>
            <a:ext cx="3971925" cy="3576638"/>
          </a:xfrm>
          <a:prstGeom prst="roundRect">
            <a:avLst>
              <a:gd name="adj" fmla="val 2663"/>
            </a:avLst>
          </a:prstGeom>
          <a:solidFill>
            <a:srgbClr val="EEF2FF"/>
          </a:solidFill>
          <a:ln w="9525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1133475" y="6129338"/>
            <a:ext cx="36397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xx:00 Synthesis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33475" y="6497002"/>
            <a:ext cx="3639788" cy="2761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material emits 72 rows/day (xx:15/30/45 only).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_synthesize_xx00_rows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a linearly-interpolated xx:00 row per hour → 96-slot cadence in Silver &amp; Gold.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76825" y="5910263"/>
            <a:ext cx="3971925" cy="3576638"/>
          </a:xfrm>
          <a:prstGeom prst="roundRect">
            <a:avLst>
              <a:gd name="adj" fmla="val 266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5295900" y="6129338"/>
            <a:ext cx="36397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 Date Parsing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295900" y="6497002"/>
            <a:ext cx="3639788" cy="2761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dates arrive in French locale ( 8 janv. 2023 ).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french_date_to_english()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month abbreviations before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try_to_date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39250" y="5910263"/>
            <a:ext cx="3971925" cy="3576638"/>
          </a:xfrm>
          <a:prstGeom prst="roundRect">
            <a:avLst>
              <a:gd name="adj" fmla="val 266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458325" y="6129338"/>
            <a:ext cx="36397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Sierre Weather Synthesis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458325" y="6497002"/>
            <a:ext cx="3639788" cy="2761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physical station — average Sion + Visp forecasts to a synthetic </a:t>
            </a:r>
            <a:r>
              <a:rPr lang="en-US" sz="160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'Sierre'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site. Sentinel −99 999 values replaced with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null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averaging.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401675" y="5910263"/>
            <a:ext cx="3971925" cy="3576638"/>
          </a:xfrm>
          <a:prstGeom prst="roundRect">
            <a:avLst>
              <a:gd name="adj" fmla="val 266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13620750" y="6129338"/>
            <a:ext cx="3639788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Masking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620750" y="6497002"/>
            <a:ext cx="3639788" cy="2761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over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Professeur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Nom de l'utilisateur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ProfessorMasked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600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Utilisateur_Masked </a:t>
            </a:r>
            <a:r>
              <a:rPr lang="en-US" sz="160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Raw columns dropped from Silver.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74049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GOLD 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7404991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→ Azure SQL Gold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1864995"/>
            <a:ext cx="1191212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Process within Databricks from ADLS to Azure SQL · Serverless Gen5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619375"/>
            <a:ext cx="8077200" cy="6867525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1228725" y="2973229"/>
            <a:ext cx="419100" cy="419100"/>
          </a:xfrm>
          <a:prstGeom prst="ellipse">
            <a:avLst/>
          </a:prstGeom>
          <a:solidFill>
            <a:srgbClr val="152D47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1190625" y="297322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781175" y="2933700"/>
            <a:ext cx="3786459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silver_gold_dimensions.py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1175" y="3110071"/>
            <a:ext cx="378645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3859" y="3502025"/>
            <a:ext cx="7672007" cy="1342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Insert-only by default. </a:t>
            </a: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dimensions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via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LEFT ANTI JOIN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dim_prediction_model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on payload diff. </a:t>
            </a:r>
            <a:r>
              <a:rPr lang="en-US" sz="1518" dirty="0" err="1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ref_electricity_tariff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SCD2. </a:t>
            </a:r>
            <a:r>
              <a:rPr lang="en-US" sz="1518" dirty="0" err="1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StatusCode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= 99 (Unknown)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for missing codes.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296400" y="2619375"/>
            <a:ext cx="8077200" cy="6867525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9610725" y="2973229"/>
            <a:ext cx="419100" cy="4191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9572625" y="297322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163175" y="2933700"/>
            <a:ext cx="3520751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silver_gold_facts.py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63175" y="3110071"/>
            <a:ext cx="3520751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72625" y="3502025"/>
            <a:ext cx="7672007" cy="166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SELECT MAX(DateKey)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only newer silver rows.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DateKey = yyyyMMdd::int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TimeKey = hour×60+minute::smallint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cheap joins.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518" dirty="0" err="1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fact_environment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FULL OUTER JOIN of temperature &amp; humidity.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pause handled by JDBC retry-with-backoff (20–80 s, max 5 attempts).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CA5658C2-CB4A-8464-DFEC-0A4D8EEE8879}"/>
              </a:ext>
            </a:extLst>
          </p:cNvPr>
          <p:cNvSpPr/>
          <p:nvPr/>
        </p:nvSpPr>
        <p:spPr>
          <a:xfrm>
            <a:off x="15615920" y="752475"/>
            <a:ext cx="183388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6FC77FE-4FD7-E83E-A44F-D4C5DD2B8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537" y="4768759"/>
            <a:ext cx="6175375" cy="459003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A44A0AB-C254-6261-F188-83473098E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845" y="5164138"/>
            <a:ext cx="7031620" cy="41092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28998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GOLD — SCHEMA &amp; ANALYTICAL VIEWS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4035314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Azure DB· 8 Dims · 7 Facts · 9 BI-Ready Views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124234"/>
            <a:ext cx="95250" cy="9525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104900" y="2093595"/>
            <a:ext cx="1300004" cy="19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· 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236458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1047750" y="244078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dim_inverter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793206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1047750" y="2869406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dim_inverter_status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22183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1047750" y="329803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dim_weather_site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650456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1047750" y="3726656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dim_measurement_type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407908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1047750" y="415528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dim_division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507706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1047750" y="4583906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dim_room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93633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1047750" y="501253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dim_prediction_model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77000" y="2124234"/>
            <a:ext cx="95250" cy="952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6667500" y="2093595"/>
            <a:ext cx="818515" cy="19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· 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77000" y="2669381"/>
            <a:ext cx="2472372" cy="19050"/>
          </a:xfrm>
          <a:prstGeom prst="rect">
            <a:avLst/>
          </a:prstGeom>
          <a:solidFill>
            <a:srgbClr val="152D47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572250" y="2440781"/>
            <a:ext cx="23580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8949372" y="2669381"/>
            <a:ext cx="2861628" cy="19050"/>
          </a:xfrm>
          <a:prstGeom prst="rect">
            <a:avLst/>
          </a:prstGeom>
          <a:solidFill>
            <a:srgbClr val="152D47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9044622" y="2440781"/>
            <a:ext cx="27569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(PK)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6477000" y="3021965"/>
            <a:ext cx="247237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6572250" y="2764631"/>
            <a:ext cx="2358072" cy="219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fact_solar_inverter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49372" y="3021965"/>
            <a:ext cx="28616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9044622" y="2764631"/>
            <a:ext cx="2756976" cy="219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DateKey, TimeKey, InverterKey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6477000" y="3360261"/>
            <a:ext cx="247237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572250" y="3107690"/>
            <a:ext cx="2358072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fact_solar_production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49372" y="3360261"/>
            <a:ext cx="28616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9044622" y="3107690"/>
            <a:ext cx="2756976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DateKey, TimeKey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6477000" y="3698557"/>
            <a:ext cx="247237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6572250" y="3445986"/>
            <a:ext cx="2358072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fact_energy_consumption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49372" y="3698557"/>
            <a:ext cx="28616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9044622" y="3445986"/>
            <a:ext cx="2756976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DateKey, TimeKey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6477000" y="4036854"/>
            <a:ext cx="247237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6572250" y="3784282"/>
            <a:ext cx="2358072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fact_environment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949372" y="4036854"/>
            <a:ext cx="28616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6" name="Text 44"/>
          <p:cNvSpPr/>
          <p:nvPr/>
        </p:nvSpPr>
        <p:spPr>
          <a:xfrm>
            <a:off x="9044622" y="3784282"/>
            <a:ext cx="2756976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DateKey, TimeKey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6477000" y="4375150"/>
            <a:ext cx="247237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8" name="Text 46"/>
          <p:cNvSpPr/>
          <p:nvPr/>
        </p:nvSpPr>
        <p:spPr>
          <a:xfrm>
            <a:off x="6572250" y="4122579"/>
            <a:ext cx="2358072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fact_weather_forecast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949372" y="4375150"/>
            <a:ext cx="28616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0" name="Text 48"/>
          <p:cNvSpPr/>
          <p:nvPr/>
        </p:nvSpPr>
        <p:spPr>
          <a:xfrm>
            <a:off x="9044622" y="4122579"/>
            <a:ext cx="2756976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SiteKey, MeasurementKey, Horizon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6477000" y="4713446"/>
            <a:ext cx="247237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2" name="Text 50"/>
          <p:cNvSpPr/>
          <p:nvPr/>
        </p:nvSpPr>
        <p:spPr>
          <a:xfrm>
            <a:off x="6572250" y="4460875"/>
            <a:ext cx="2358072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fact_room_booking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949372" y="4713446"/>
            <a:ext cx="28616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4" name="Text 52"/>
          <p:cNvSpPr/>
          <p:nvPr/>
        </p:nvSpPr>
        <p:spPr>
          <a:xfrm>
            <a:off x="9044622" y="4460875"/>
            <a:ext cx="2756976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BookingKey (surrogate)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6477000" y="5051743"/>
            <a:ext cx="247237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6" name="Text 54"/>
          <p:cNvSpPr/>
          <p:nvPr/>
        </p:nvSpPr>
        <p:spPr>
          <a:xfrm>
            <a:off x="6572250" y="4799171"/>
            <a:ext cx="2358072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fact_energy_prediction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949372" y="5051743"/>
            <a:ext cx="28616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8" name="Text 56"/>
          <p:cNvSpPr/>
          <p:nvPr/>
        </p:nvSpPr>
        <p:spPr>
          <a:xfrm>
            <a:off x="9044622" y="4799171"/>
            <a:ext cx="2756976" cy="214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ModelKey, RunDateKey</a:t>
            </a:r>
            <a:endParaRPr lang="en-US" sz="975" dirty="0"/>
          </a:p>
        </p:txBody>
      </p:sp>
      <p:sp>
        <p:nvSpPr>
          <p:cNvPr id="59" name="Shape 57"/>
          <p:cNvSpPr/>
          <p:nvPr/>
        </p:nvSpPr>
        <p:spPr>
          <a:xfrm>
            <a:off x="12039600" y="2124234"/>
            <a:ext cx="95250" cy="9525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0" name="Text 58"/>
          <p:cNvSpPr/>
          <p:nvPr/>
        </p:nvSpPr>
        <p:spPr>
          <a:xfrm>
            <a:off x="12230100" y="2093595"/>
            <a:ext cx="1807210" cy="19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VIEWS · 9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2039600" y="236458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2" name="Text 60"/>
          <p:cNvSpPr/>
          <p:nvPr/>
        </p:nvSpPr>
        <p:spPr>
          <a:xfrm>
            <a:off x="12172950" y="244078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vw_inverter_status_breakdown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2039600" y="2793206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4" name="Text 62"/>
          <p:cNvSpPr/>
          <p:nvPr/>
        </p:nvSpPr>
        <p:spPr>
          <a:xfrm>
            <a:off x="12172950" y="2869406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vw_inverter_performance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2039600" y="322183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6" name="Text 64"/>
          <p:cNvSpPr/>
          <p:nvPr/>
        </p:nvSpPr>
        <p:spPr>
          <a:xfrm>
            <a:off x="12172950" y="3298031"/>
            <a:ext cx="14973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vw_prediction_accuracy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3670280" y="3304699"/>
            <a:ext cx="533876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(MAPE)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2039600" y="3650456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9" name="Text 67"/>
          <p:cNvSpPr/>
          <p:nvPr/>
        </p:nvSpPr>
        <p:spPr>
          <a:xfrm>
            <a:off x="12172950" y="3726656"/>
            <a:ext cx="1570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vw_daily_energy_balance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3742988" y="3733324"/>
            <a:ext cx="424339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(CHF)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2039600" y="407908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2" name="Text 70"/>
          <p:cNvSpPr/>
          <p:nvPr/>
        </p:nvSpPr>
        <p:spPr>
          <a:xfrm>
            <a:off x="12172950" y="415528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vw_daily_energy_with_predictions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2039600" y="4507706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4" name="Text 72"/>
          <p:cNvSpPr/>
          <p:nvPr/>
        </p:nvSpPr>
        <p:spPr>
          <a:xfrm>
            <a:off x="12172950" y="4583906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vw_building_occupation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2039600" y="493633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6" name="Text 74"/>
          <p:cNvSpPr/>
          <p:nvPr/>
        </p:nvSpPr>
        <p:spPr>
          <a:xfrm>
            <a:off x="12172950" y="501253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vw_building_occupation_hourly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2039600" y="5364956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8" name="Text 76"/>
          <p:cNvSpPr/>
          <p:nvPr/>
        </p:nvSpPr>
        <p:spPr>
          <a:xfrm>
            <a:off x="12172950" y="5441156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vw_kpi_dashboard_home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2039600" y="579358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0" name="Text 78"/>
          <p:cNvSpPr/>
          <p:nvPr/>
        </p:nvSpPr>
        <p:spPr>
          <a:xfrm>
            <a:off x="12172950" y="586978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vw_weather_vs_production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914400" y="7527925"/>
            <a:ext cx="16459200" cy="1435894"/>
          </a:xfrm>
          <a:prstGeom prst="roundRect">
            <a:avLst>
              <a:gd name="adj" fmla="val 3980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2" name="Shape 80"/>
          <p:cNvSpPr/>
          <p:nvPr/>
        </p:nvSpPr>
        <p:spPr>
          <a:xfrm>
            <a:off x="914400" y="7527925"/>
            <a:ext cx="38100" cy="143589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3" name="Text 81"/>
          <p:cNvSpPr/>
          <p:nvPr/>
        </p:nvSpPr>
        <p:spPr>
          <a:xfrm>
            <a:off x="1162050" y="7699375"/>
            <a:ext cx="164820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1162050" y="8013700"/>
            <a:ext cx="16482060" cy="816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roles: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Director_Role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(broad read + energy + bookings) ·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Teacher_Role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(energy, bookings, sustainability views — no inverter detail, no forecasts) ·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Technician_Role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(solar, ML, weather — no bookings per GDPR).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42" dirty="0" err="1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BookingDivisionFilter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policy applies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fn_division_security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fact_room_booking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Directors and Teachers see only their mapped divisions in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ref_user_division_access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350" b="1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db_owner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350" b="1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Technician_Role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the filter entirely.</a:t>
            </a:r>
            <a:endParaRPr lang="en-US" sz="1350" dirty="0"/>
          </a:p>
        </p:txBody>
      </p:sp>
      <p:sp>
        <p:nvSpPr>
          <p:cNvPr id="85" name="Text 83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86" name="Shape 84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7" name="Text 85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00" dirty="0"/>
          </a:p>
        </p:txBody>
      </p:sp>
      <p:sp>
        <p:nvSpPr>
          <p:cNvPr id="90" name="Shape 16">
            <a:extLst>
              <a:ext uri="{FF2B5EF4-FFF2-40B4-BE49-F238E27FC236}">
                <a16:creationId xmlns:a16="http://schemas.microsoft.com/office/drawing/2014/main" id="{83B4EAB9-AD02-C666-3FDD-BF636540597B}"/>
              </a:ext>
            </a:extLst>
          </p:cNvPr>
          <p:cNvSpPr/>
          <p:nvPr/>
        </p:nvSpPr>
        <p:spPr>
          <a:xfrm>
            <a:off x="914400" y="5355431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 dirty="0"/>
          </a:p>
        </p:txBody>
      </p:sp>
      <p:sp>
        <p:nvSpPr>
          <p:cNvPr id="91" name="Text 17">
            <a:extLst>
              <a:ext uri="{FF2B5EF4-FFF2-40B4-BE49-F238E27FC236}">
                <a16:creationId xmlns:a16="http://schemas.microsoft.com/office/drawing/2014/main" id="{0D58F682-7977-4938-CBE2-1CD3C102FD61}"/>
              </a:ext>
            </a:extLst>
          </p:cNvPr>
          <p:cNvSpPr/>
          <p:nvPr/>
        </p:nvSpPr>
        <p:spPr>
          <a:xfrm>
            <a:off x="1047750" y="5431631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1050" dirty="0"/>
          </a:p>
        </p:txBody>
      </p:sp>
      <p:sp>
        <p:nvSpPr>
          <p:cNvPr id="92" name="Shape 16">
            <a:extLst>
              <a:ext uri="{FF2B5EF4-FFF2-40B4-BE49-F238E27FC236}">
                <a16:creationId xmlns:a16="http://schemas.microsoft.com/office/drawing/2014/main" id="{E246F68B-3AF4-856D-C218-95E16192FA5B}"/>
              </a:ext>
            </a:extLst>
          </p:cNvPr>
          <p:cNvSpPr/>
          <p:nvPr/>
        </p:nvSpPr>
        <p:spPr>
          <a:xfrm>
            <a:off x="914400" y="5782469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CH" dirty="0"/>
          </a:p>
        </p:txBody>
      </p:sp>
      <p:sp>
        <p:nvSpPr>
          <p:cNvPr id="93" name="Text 17">
            <a:extLst>
              <a:ext uri="{FF2B5EF4-FFF2-40B4-BE49-F238E27FC236}">
                <a16:creationId xmlns:a16="http://schemas.microsoft.com/office/drawing/2014/main" id="{FD4F4B9C-5A2D-8884-3176-52A5707D47AC}"/>
              </a:ext>
            </a:extLst>
          </p:cNvPr>
          <p:cNvSpPr/>
          <p:nvPr/>
        </p:nvSpPr>
        <p:spPr>
          <a:xfrm>
            <a:off x="1047750" y="5858669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dim_time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60569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6056993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Daily Forecasts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1864995"/>
            <a:ext cx="605699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Production &amp; Building Consumption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560834" y="752475"/>
            <a:ext cx="188896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914400" y="2657475"/>
            <a:ext cx="8077200" cy="6829425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914400" y="9477375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914400" y="2657475"/>
            <a:ext cx="80772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914400" y="2657475"/>
            <a:ext cx="9525" cy="68294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8982075" y="2657475"/>
            <a:ext cx="9525" cy="68294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1228725" y="3091021"/>
            <a:ext cx="1783239" cy="19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· PV_PROD_V1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77417" y="3019425"/>
            <a:ext cx="1399857" cy="300038"/>
          </a:xfrm>
          <a:prstGeom prst="roundRect">
            <a:avLst>
              <a:gd name="adj" fmla="val 50000"/>
            </a:avLst>
          </a:prstGeom>
          <a:solidFill>
            <a:srgbClr val="F59E0B">
              <a:alpha val="16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7410767" y="3076575"/>
            <a:ext cx="120935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Solar Production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28725" y="3490913"/>
            <a:ext cx="7672007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kern="0" spc="-14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Production Forecast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1228725" y="4060507"/>
            <a:ext cx="744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1228725" y="4241482"/>
            <a:ext cx="767200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28725" y="4485322"/>
            <a:ext cx="7672007" cy="238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production_delta_kwh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28725" y="4857591"/>
            <a:ext cx="767200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28725" y="5101431"/>
            <a:ext cx="767200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irradiance_wm2, temp_c, hour, minute, month, day_of_week, is_weekend, quarter_hour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9296400" y="2657475"/>
            <a:ext cx="8077200" cy="6829425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9296400" y="9477375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9296400" y="2657475"/>
            <a:ext cx="80772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Shape 25"/>
          <p:cNvSpPr/>
          <p:nvPr/>
        </p:nvSpPr>
        <p:spPr>
          <a:xfrm>
            <a:off x="9296400" y="2657475"/>
            <a:ext cx="9525" cy="68294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17364075" y="2657475"/>
            <a:ext cx="9525" cy="68294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9610725" y="3091021"/>
            <a:ext cx="1491297" cy="194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· CONS_V1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5879127" y="3019425"/>
            <a:ext cx="1180147" cy="30003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16012477" y="3076575"/>
            <a:ext cx="989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Consumption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9610725" y="3490913"/>
            <a:ext cx="7672007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kern="0" spc="-14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Consumption Forecast</a:t>
            </a:r>
            <a:endParaRPr lang="en-US" sz="2850" dirty="0"/>
          </a:p>
        </p:txBody>
      </p:sp>
      <p:sp>
        <p:nvSpPr>
          <p:cNvPr id="33" name="Shape 31"/>
          <p:cNvSpPr/>
          <p:nvPr/>
        </p:nvSpPr>
        <p:spPr>
          <a:xfrm>
            <a:off x="9610725" y="4060507"/>
            <a:ext cx="744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9610725" y="4241482"/>
            <a:ext cx="767200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10725" y="4485322"/>
            <a:ext cx="7672007" cy="238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consumption_delta_kwh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610725" y="4857591"/>
            <a:ext cx="767200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10725" y="5101431"/>
            <a:ext cx="7672007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temp_c, humidity_pct, precipitation_kgm2, room_occupation_pct, hour, minute, month, day_of_week, is_weekend, is_academic_day, quarter_hour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DA69A7-AD2E-8C79-F6FD-C5F42CDA2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913" y="5707641"/>
            <a:ext cx="7672007" cy="316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3A5814D-2222-A915-3324-01BEFDCD1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68" y="5648394"/>
            <a:ext cx="7669383" cy="33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ML — LIFECYCLE &amp;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16952976" cy="155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ml_export_to_knime → KNIME Edu Hub → ml_load_predictions</a:t>
            </a:r>
            <a:endParaRPr lang="en-US" sz="4800" b="1" dirty="0"/>
          </a:p>
        </p:txBody>
      </p:sp>
      <p:sp>
        <p:nvSpPr>
          <p:cNvPr id="4" name="Shape 2"/>
          <p:cNvSpPr/>
          <p:nvPr/>
        </p:nvSpPr>
        <p:spPr>
          <a:xfrm>
            <a:off x="914400" y="2929890"/>
            <a:ext cx="4014788" cy="1879759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133475" y="3148965"/>
            <a:ext cx="368393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133475" y="3720465"/>
            <a:ext cx="3683937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Export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33475" y="4069080"/>
            <a:ext cx="368393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writes feature CSVs to ADLS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mldata/knime_input/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62538" y="2929890"/>
            <a:ext cx="4014788" cy="1879759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5281613" y="3148965"/>
            <a:ext cx="368393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5281613" y="3720465"/>
            <a:ext cx="3683937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KNIME Orchestration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281613" y="4069080"/>
            <a:ext cx="3683937" cy="559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 daily; </a:t>
            </a: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Model_Selection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Mondays only.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10675" y="2929890"/>
            <a:ext cx="4014788" cy="1879759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9429750" y="3148965"/>
            <a:ext cx="368393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9429750" y="3720465"/>
            <a:ext cx="3683937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Output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429750" y="4069080"/>
            <a:ext cx="368393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ADLS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mldata/knime_output/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production &amp; consumption CSVs.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358813" y="2929890"/>
            <a:ext cx="4014788" cy="1879759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13577888" y="3148965"/>
            <a:ext cx="368393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50" dirty="0"/>
          </a:p>
        </p:txBody>
      </p:sp>
      <p:sp>
        <p:nvSpPr>
          <p:cNvPr id="18" name="Text 16"/>
          <p:cNvSpPr/>
          <p:nvPr/>
        </p:nvSpPr>
        <p:spPr>
          <a:xfrm>
            <a:off x="13577888" y="3720465"/>
            <a:ext cx="3683937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Persist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577888" y="4069080"/>
            <a:ext cx="368393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clamps negatives, replaces predictions, calls backfill SP.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14400" y="5114449"/>
            <a:ext cx="8115300" cy="4372451"/>
          </a:xfrm>
          <a:prstGeom prst="roundRect">
            <a:avLst>
              <a:gd name="adj" fmla="val 217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1190625" y="5390674"/>
            <a:ext cx="778973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KNIME Services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90625" y="5788819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1190625" y="5950744"/>
            <a:ext cx="778973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DELETE FROM fact_energy_prediction WHERE PredictionRunDateKey = &lt;today&gt;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INSERT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full replace per run date =&gt; Idempotency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90625" y="6722269"/>
            <a:ext cx="778973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Data_Preparation : takes the consumption and production data from ADLS as a CSV file, clean it and split it to be ready for training.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90625" y="7493794"/>
            <a:ext cx="778973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Model_Selection : Tests each file against 4 different regression models. The best results are stored and only the best model per topic is pushed to the "FINAL" model folder.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90625" y="8265319"/>
            <a:ext cx="778973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REST_Interface : Exposes the best model from Model_Selection to create a prediction and store the predicited outcome in ADLS.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58300" y="5114449"/>
            <a:ext cx="8115300" cy="4372451"/>
          </a:xfrm>
          <a:prstGeom prst="roundRect">
            <a:avLst>
              <a:gd name="adj" fmla="val 217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534525" y="5390674"/>
            <a:ext cx="778973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Tracking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34525" y="5788819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9534525" y="5950744"/>
            <a:ext cx="7789736" cy="559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sp_backfill_prediction_actuals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yesterday's actuals onto earlier predictions.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vw_prediction_accuracy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</a:t>
            </a: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BI consumption.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534525" y="6729413"/>
            <a:ext cx="778973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are loaded directly in SQL, allowing comparison between predicted and actual energy consumption and solar energy production.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534525" y="7500938"/>
            <a:ext cx="7789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scores and statistics could be implemented in the future.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1358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ML — KNIME WORKFLOW INTERNALS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8135891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KNIME REST Deployments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1864995"/>
            <a:ext cx="813589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Invoked by ADF on the 09:30 trigger</a:t>
            </a:r>
            <a:endParaRPr lang="en-US" sz="27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1A6676-11AA-C68D-67A3-B147A20F5EEA}"/>
              </a:ext>
            </a:extLst>
          </p:cNvPr>
          <p:cNvGrpSpPr/>
          <p:nvPr/>
        </p:nvGrpSpPr>
        <p:grpSpPr>
          <a:xfrm>
            <a:off x="914399" y="2714624"/>
            <a:ext cx="6952343" cy="4301215"/>
            <a:chOff x="914400" y="2714625"/>
            <a:chExt cx="5321618" cy="2795588"/>
          </a:xfrm>
        </p:grpSpPr>
        <p:sp>
          <p:nvSpPr>
            <p:cNvPr id="5" name="Shape 3"/>
            <p:cNvSpPr/>
            <p:nvPr/>
          </p:nvSpPr>
          <p:spPr>
            <a:xfrm>
              <a:off x="914400" y="3067050"/>
              <a:ext cx="3223260" cy="19050"/>
            </a:xfrm>
            <a:prstGeom prst="rect">
              <a:avLst/>
            </a:prstGeom>
            <a:solidFill>
              <a:srgbClr val="152D47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6" name="Text 4"/>
            <p:cNvSpPr/>
            <p:nvPr/>
          </p:nvSpPr>
          <p:spPr>
            <a:xfrm>
              <a:off x="1085850" y="2714625"/>
              <a:ext cx="2977058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96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KNIME DEPLOYMENT</a:t>
              </a:r>
              <a:endParaRPr lang="en-US" sz="12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137660" y="3067050"/>
              <a:ext cx="2098358" cy="19050"/>
            </a:xfrm>
            <a:prstGeom prst="rect">
              <a:avLst/>
            </a:prstGeom>
            <a:solidFill>
              <a:srgbClr val="152D47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8" name="Text 6"/>
            <p:cNvSpPr/>
            <p:nvPr/>
          </p:nvSpPr>
          <p:spPr>
            <a:xfrm>
              <a:off x="4309110" y="2714625"/>
              <a:ext cx="1831658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96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CADENCE</a:t>
              </a:r>
              <a:endParaRPr lang="en-US" sz="1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14400" y="3686175"/>
              <a:ext cx="3223260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12" name="Text 10"/>
            <p:cNvSpPr/>
            <p:nvPr/>
          </p:nvSpPr>
          <p:spPr>
            <a:xfrm>
              <a:off x="1085850" y="3238500"/>
              <a:ext cx="2977058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Data_Preparation</a:t>
              </a:r>
              <a:endParaRPr lang="en-US" sz="13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137660" y="3686175"/>
              <a:ext cx="2098358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14" name="Shape 12"/>
            <p:cNvSpPr/>
            <p:nvPr/>
          </p:nvSpPr>
          <p:spPr>
            <a:xfrm>
              <a:off x="4309110" y="3248025"/>
              <a:ext cx="948055" cy="290513"/>
            </a:xfrm>
            <a:prstGeom prst="roundRect">
              <a:avLst>
                <a:gd name="adj" fmla="val 50000"/>
              </a:avLst>
            </a:prstGeom>
            <a:solidFill>
              <a:srgbClr val="10B981">
                <a:alpha val="12000"/>
              </a:srgbClr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15" name="Text 13"/>
            <p:cNvSpPr/>
            <p:nvPr/>
          </p:nvSpPr>
          <p:spPr>
            <a:xfrm>
              <a:off x="4442460" y="3306710"/>
              <a:ext cx="649764" cy="2047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 b="1" kern="0" spc="36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 run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914400" y="4291013"/>
              <a:ext cx="3223260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19" name="Text 17"/>
            <p:cNvSpPr/>
            <p:nvPr/>
          </p:nvSpPr>
          <p:spPr>
            <a:xfrm>
              <a:off x="1085850" y="3848100"/>
              <a:ext cx="2977058" cy="3286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Model_Selection</a:t>
              </a:r>
              <a:endParaRPr lang="en-US" sz="13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137660" y="4291013"/>
              <a:ext cx="2098358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21" name="Shape 19"/>
            <p:cNvSpPr/>
            <p:nvPr/>
          </p:nvSpPr>
          <p:spPr>
            <a:xfrm>
              <a:off x="4309110" y="3852863"/>
              <a:ext cx="1034733" cy="290513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6000"/>
              </a:srgbClr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22" name="Text 20"/>
            <p:cNvSpPr/>
            <p:nvPr/>
          </p:nvSpPr>
          <p:spPr>
            <a:xfrm>
              <a:off x="4442460" y="3910014"/>
              <a:ext cx="901383" cy="201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 b="1" kern="0" spc="36" dirty="0">
                  <a:solidFill>
                    <a:srgbClr val="B4530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Mondays only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914400" y="4895850"/>
              <a:ext cx="3223260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26" name="Text 24"/>
            <p:cNvSpPr/>
            <p:nvPr/>
          </p:nvSpPr>
          <p:spPr>
            <a:xfrm>
              <a:off x="1085850" y="4452938"/>
              <a:ext cx="2977058" cy="3286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Consumption predictor</a:t>
              </a:r>
              <a:endParaRPr lang="en-US" sz="13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137660" y="4895850"/>
              <a:ext cx="2098358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28" name="Shape 26"/>
            <p:cNvSpPr/>
            <p:nvPr/>
          </p:nvSpPr>
          <p:spPr>
            <a:xfrm>
              <a:off x="4309110" y="4457700"/>
              <a:ext cx="948055" cy="290513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29" name="Text 27"/>
            <p:cNvSpPr/>
            <p:nvPr/>
          </p:nvSpPr>
          <p:spPr>
            <a:xfrm>
              <a:off x="4442460" y="4514850"/>
              <a:ext cx="757555" cy="2143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 b="1" kern="0" spc="36" dirty="0">
                  <a:solidFill>
                    <a:srgbClr val="2563E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 run</a:t>
              </a:r>
              <a:endParaRPr lang="en-US" sz="12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914400" y="5500688"/>
              <a:ext cx="3223260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33" name="Text 31"/>
            <p:cNvSpPr/>
            <p:nvPr/>
          </p:nvSpPr>
          <p:spPr>
            <a:xfrm>
              <a:off x="1085850" y="5057775"/>
              <a:ext cx="2977058" cy="3286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52D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Solar predictor</a:t>
              </a:r>
              <a:endParaRPr lang="en-US" sz="13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137660" y="5500688"/>
              <a:ext cx="2098358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35" name="Shape 33"/>
            <p:cNvSpPr/>
            <p:nvPr/>
          </p:nvSpPr>
          <p:spPr>
            <a:xfrm>
              <a:off x="4309110" y="5062538"/>
              <a:ext cx="948055" cy="290513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en-CH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442460" y="5119688"/>
              <a:ext cx="757555" cy="2143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 b="1" kern="0" spc="36" dirty="0">
                  <a:solidFill>
                    <a:srgbClr val="2563E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 run</a:t>
              </a:r>
              <a:endParaRPr lang="en-US" sz="1200" dirty="0"/>
            </a:p>
          </p:txBody>
        </p:sp>
      </p:grpSp>
      <p:sp>
        <p:nvSpPr>
          <p:cNvPr id="51" name="Text 49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3" name="Text 51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9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82BDC96-501C-89CE-D352-C0482EC3A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9" t="2389" r="1931" b="-465"/>
          <a:stretch>
            <a:fillRect/>
          </a:stretch>
        </p:blipFill>
        <p:spPr>
          <a:xfrm>
            <a:off x="9332688" y="477730"/>
            <a:ext cx="7659876" cy="562899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29B620A-42A9-40B9-7838-8470CF43F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72" y="7411626"/>
            <a:ext cx="6680200" cy="16383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BABDBCF-308A-F368-9629-1C217FC54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0291" y="6269405"/>
            <a:ext cx="7073094" cy="33405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06805"/>
            <a:ext cx="133292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POWER BI DASHBOARDS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449705"/>
            <a:ext cx="13329212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Reports · DirectQuery on Gold · RLS-Aware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5615920" y="685800"/>
            <a:ext cx="183388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798285" y="2745014"/>
            <a:ext cx="5334000" cy="596265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798285" y="8698139"/>
            <a:ext cx="5334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798285" y="2745014"/>
            <a:ext cx="5334000" cy="47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798285" y="2745014"/>
            <a:ext cx="9525" cy="59626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6122760" y="2745014"/>
            <a:ext cx="9525" cy="59626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1074510" y="3059339"/>
            <a:ext cx="739775" cy="314325"/>
          </a:xfrm>
          <a:prstGeom prst="roundRect">
            <a:avLst>
              <a:gd name="adj" fmla="val 50000"/>
            </a:avLst>
          </a:prstGeom>
          <a:solidFill>
            <a:srgbClr val="F59E0B">
              <a:alpha val="16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1207860" y="3116489"/>
            <a:ext cx="5492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74510" y="3507014"/>
            <a:ext cx="49249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Production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74510" y="3983264"/>
            <a:ext cx="4924997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by: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vw_inverter_status_breakdown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vw_inverter_performance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42" dirty="0" err="1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vw_weather_vs_production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74510" y="7568474"/>
            <a:ext cx="4781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1074510" y="7692299"/>
            <a:ext cx="492499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74510" y="7917089"/>
            <a:ext cx="492499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technicians monitoring inverter health and comparing actual production to weather.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60885" y="2745014"/>
            <a:ext cx="5334000" cy="596265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6360885" y="8698139"/>
            <a:ext cx="5334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6360885" y="2745014"/>
            <a:ext cx="5334000" cy="4762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6360885" y="2745014"/>
            <a:ext cx="9525" cy="59626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11685360" y="2745014"/>
            <a:ext cx="9525" cy="59626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6637110" y="3059339"/>
            <a:ext cx="833914" cy="314325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770460" y="3116489"/>
            <a:ext cx="6434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37110" y="3507014"/>
            <a:ext cx="49249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Financial Overview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637110" y="3983264"/>
            <a:ext cx="4924997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by: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vw_daily_energy_balance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vw_daily_energy_with_predictions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(actual vs. predicted overlay),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vw_kpi_dashboard_home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KPIs),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vw_prediction_accuracy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37110" y="7568474"/>
            <a:ext cx="4781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637110" y="7692299"/>
            <a:ext cx="492499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37110" y="7917089"/>
            <a:ext cx="492499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— net energy balance, self-sufficiency, daily costs, and forecast reliability.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1923485" y="2745014"/>
            <a:ext cx="5334000" cy="596265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Shape 29"/>
          <p:cNvSpPr/>
          <p:nvPr/>
        </p:nvSpPr>
        <p:spPr>
          <a:xfrm>
            <a:off x="11923485" y="8698139"/>
            <a:ext cx="5334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Shape 30"/>
          <p:cNvSpPr/>
          <p:nvPr/>
        </p:nvSpPr>
        <p:spPr>
          <a:xfrm>
            <a:off x="11923485" y="2745014"/>
            <a:ext cx="5334000" cy="4762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3" name="Shape 31"/>
          <p:cNvSpPr/>
          <p:nvPr/>
        </p:nvSpPr>
        <p:spPr>
          <a:xfrm>
            <a:off x="11923485" y="2745014"/>
            <a:ext cx="9525" cy="59626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17247960" y="2745014"/>
            <a:ext cx="9525" cy="59626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12199710" y="3059339"/>
            <a:ext cx="919797" cy="3143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12333060" y="3116489"/>
            <a:ext cx="7292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199710" y="3507014"/>
            <a:ext cx="49249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Occupancy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2199710" y="3983264"/>
            <a:ext cx="4924997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by: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vw_building_occupation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(daily, 10-hour window),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vw_building_occupation_hourly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(per-hour granularity),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fact_room_booking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dim_division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dim_room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through RLS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BookingDivisionFilter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2199710" y="7568474"/>
            <a:ext cx="4781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12199710" y="7692299"/>
            <a:ext cx="4924997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2199710" y="7917089"/>
            <a:ext cx="492499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Directors &amp; Teachers — each sees only their mapped divisions (GDPR · RLS). Academic days only.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60584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SAC DASHBOARDS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28700"/>
            <a:ext cx="6058465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Analytics Cloud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1864995"/>
            <a:ext cx="605846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via Azure File Share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877858" y="752475"/>
            <a:ext cx="157194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914400" y="2581275"/>
            <a:ext cx="8077200" cy="6905625"/>
          </a:xfrm>
          <a:prstGeom prst="roundRect">
            <a:avLst>
              <a:gd name="adj" fmla="val 1379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7" name="Text 5"/>
          <p:cNvSpPr/>
          <p:nvPr/>
        </p:nvSpPr>
        <p:spPr>
          <a:xfrm>
            <a:off x="1228725" y="2895600"/>
            <a:ext cx="7672007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Pipeline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28725" y="3369945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1228725" y="3608070"/>
            <a:ext cx="7672007" cy="1337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sac_export_to_adls.py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vw_inverter_status_breakdown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vw_inverter_performance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JDBC, LEFT JOINs at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(FullDate, InverterID)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coalesce(1)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writes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sacexport/sac_inverter_combined.csv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28725" y="4821692"/>
            <a:ext cx="7672007" cy="1012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PL_SAC_Export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ADF binary copy to the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sac-export-share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File Share, authenticated via 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LS_AzureFileShare_SAC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518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sacpassword </a:t>
            </a:r>
            <a:r>
              <a:rPr lang="en-US" sz="16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Key Vault). SAC polls the share, ingests the CSV, and refreshes dashboard models.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296400" y="2581275"/>
            <a:ext cx="8077200" cy="6905625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610725" y="2895600"/>
            <a:ext cx="76720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Panel Failure Dashboard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10725" y="3590925"/>
            <a:ext cx="7672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Breakdown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10725" y="3886200"/>
            <a:ext cx="76720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PctOfDayReadings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inverter status — spot inverters spending more than X% of the day in fault states.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10725" y="4410075"/>
            <a:ext cx="7672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Ratio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10725" y="4705350"/>
            <a:ext cx="76720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AC power / rated capacity — separates a poorly-performing inverter from one running on a cloudy day.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610725" y="5229225"/>
            <a:ext cx="7672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View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10725" y="5524500"/>
            <a:ext cx="767200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CSV joins both views at </a:t>
            </a:r>
            <a:r>
              <a:rPr lang="en-US" sz="1242" dirty="0">
                <a:solidFill>
                  <a:srgbClr val="0F172A"/>
                </a:solidFill>
                <a:highlight>
                  <a:srgbClr val="F1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(FullDate, InverterID) </a:t>
            </a:r>
            <a:r>
              <a:rPr lang="en-US" sz="1350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SAC models a single fact table with status + performance attributes.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9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3CB0C277-0166-3DD5-6B2D-01D0BB08103B}"/>
              </a:ext>
            </a:extLst>
          </p:cNvPr>
          <p:cNvSpPr/>
          <p:nvPr/>
        </p:nvSpPr>
        <p:spPr>
          <a:xfrm>
            <a:off x="9610725" y="3336607"/>
            <a:ext cx="457200" cy="4762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CH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7CD7078-03B8-A2E9-F6B0-75BAC9E9A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86" y="2653710"/>
            <a:ext cx="4419600" cy="106105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2C6C0E2-86E8-7D95-772F-6D756187A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332" y="5967846"/>
            <a:ext cx="7772400" cy="323239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7881A66-CC20-9065-C20B-56FBFA01A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4970" y="6343650"/>
            <a:ext cx="6860059" cy="28662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06805"/>
            <a:ext cx="81331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FURTHER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449705"/>
            <a:ext cx="8133112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&amp; Roadmap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6233458" y="685800"/>
            <a:ext cx="121634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914400" y="2613025"/>
            <a:ext cx="828675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1152525" y="2851150"/>
            <a:ext cx="1404303" cy="290513"/>
          </a:xfrm>
          <a:prstGeom prst="roundRect">
            <a:avLst>
              <a:gd name="adj" fmla="val 50000"/>
            </a:avLst>
          </a:prstGeom>
          <a:solidFill>
            <a:srgbClr val="F59E0B">
              <a:alpha val="16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1285875" y="2908300"/>
            <a:ext cx="121380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&amp; Reproducibility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525" y="3255962"/>
            <a:ext cx="804481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&amp; DR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43025" y="3722846"/>
            <a:ext cx="4873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887538" y="3716020"/>
            <a:ext cx="2567991" cy="281146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1802924" y="3697174"/>
            <a:ext cx="3641090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infrastructure/future/workflows/</a:t>
            </a:r>
            <a:endParaRPr lang="en-US" sz="1449" dirty="0"/>
          </a:p>
        </p:txBody>
      </p:sp>
      <p:sp>
        <p:nvSpPr>
          <p:cNvPr id="12" name="Text 10"/>
          <p:cNvSpPr/>
          <p:nvPr/>
        </p:nvSpPr>
        <p:spPr>
          <a:xfrm>
            <a:off x="5703887" y="3722846"/>
            <a:ext cx="23999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CI for full Bicep rebuild.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343025" y="4142105"/>
            <a:ext cx="787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2187892" y="4111466"/>
            <a:ext cx="1697038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2264092" y="4130516"/>
            <a:ext cx="1620838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deploy-sql.yml</a:t>
            </a:r>
            <a:endParaRPr lang="en-US" sz="1449" dirty="0"/>
          </a:p>
        </p:txBody>
      </p:sp>
      <p:sp>
        <p:nvSpPr>
          <p:cNvPr id="16" name="Text 14"/>
          <p:cNvSpPr/>
          <p:nvPr/>
        </p:nvSpPr>
        <p:spPr>
          <a:xfrm>
            <a:off x="4018280" y="4142105"/>
            <a:ext cx="3786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(needs Key Vault Secrets User on UAMI).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343025" y="4561364"/>
            <a:ext cx="3401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Bacpac seed for fresh DBs already in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4779010" y="4530725"/>
            <a:ext cx="2800350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4855210" y="4549775"/>
            <a:ext cx="2731961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infrastructure/exported/</a:t>
            </a:r>
            <a:endParaRPr lang="en-US" sz="1449" dirty="0"/>
          </a:p>
        </p:txBody>
      </p:sp>
      <p:sp>
        <p:nvSpPr>
          <p:cNvPr id="20" name="Text 18"/>
          <p:cNvSpPr/>
          <p:nvPr/>
        </p:nvSpPr>
        <p:spPr>
          <a:xfrm>
            <a:off x="7712710" y="4561364"/>
            <a:ext cx="131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152525" y="4949984"/>
            <a:ext cx="8044815" cy="618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notebook paths in ADF user-agnostic — currently hard-coded to a specific Repos path.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343025" y="5674995"/>
            <a:ext cx="8659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2266156" y="5644356"/>
            <a:ext cx="1035050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2342356" y="5663406"/>
            <a:ext cx="958850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1449" dirty="0"/>
          </a:p>
        </p:txBody>
      </p:sp>
      <p:sp>
        <p:nvSpPr>
          <p:cNvPr id="25" name="Text 23"/>
          <p:cNvSpPr/>
          <p:nvPr/>
        </p:nvSpPr>
        <p:spPr>
          <a:xfrm>
            <a:off x="3434556" y="5674995"/>
            <a:ext cx="131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3623469" y="5644356"/>
            <a:ext cx="1035050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3699669" y="5663406"/>
            <a:ext cx="958850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dim_time</a:t>
            </a:r>
            <a:endParaRPr lang="en-US" sz="1449" dirty="0"/>
          </a:p>
        </p:txBody>
      </p:sp>
      <p:sp>
        <p:nvSpPr>
          <p:cNvPr id="28" name="Text 26"/>
          <p:cNvSpPr/>
          <p:nvPr/>
        </p:nvSpPr>
        <p:spPr>
          <a:xfrm>
            <a:off x="4791869" y="5674995"/>
            <a:ext cx="3814093" cy="55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CI or a notebook step — empty after a fresh schema deploy.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9429750" y="2613025"/>
            <a:ext cx="828675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9667875" y="2851150"/>
            <a:ext cx="1372711" cy="290513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9801225" y="2908300"/>
            <a:ext cx="118221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Data Quality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67875" y="3255962"/>
            <a:ext cx="804481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Data Quality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858375" y="3722846"/>
            <a:ext cx="4321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0347643" y="3692207"/>
            <a:ext cx="1366044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10423843" y="3711257"/>
            <a:ext cx="1289844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LoadBatchId</a:t>
            </a:r>
            <a:endParaRPr lang="en-US" sz="1449" dirty="0"/>
          </a:p>
        </p:txBody>
      </p:sp>
      <p:sp>
        <p:nvSpPr>
          <p:cNvPr id="36" name="Text 34"/>
          <p:cNvSpPr/>
          <p:nvPr/>
        </p:nvSpPr>
        <p:spPr>
          <a:xfrm>
            <a:off x="11847036" y="3722846"/>
            <a:ext cx="131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575" dirty="0"/>
          </a:p>
        </p:txBody>
      </p:sp>
      <p:sp>
        <p:nvSpPr>
          <p:cNvPr id="37" name="Shape 35"/>
          <p:cNvSpPr/>
          <p:nvPr/>
        </p:nvSpPr>
        <p:spPr>
          <a:xfrm>
            <a:off x="12035949" y="3692207"/>
            <a:ext cx="1255712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12112149" y="3711257"/>
            <a:ext cx="1179512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IngestedAt</a:t>
            </a:r>
            <a:endParaRPr lang="en-US" sz="1449" dirty="0"/>
          </a:p>
        </p:txBody>
      </p:sp>
      <p:sp>
        <p:nvSpPr>
          <p:cNvPr id="39" name="Text 37"/>
          <p:cNvSpPr/>
          <p:nvPr/>
        </p:nvSpPr>
        <p:spPr>
          <a:xfrm>
            <a:off x="13425011" y="3722846"/>
            <a:ext cx="30431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fact tables — no lineage today.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9858375" y="4142105"/>
            <a:ext cx="4873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10402887" y="4111466"/>
            <a:ext cx="2469356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10479087" y="4130516"/>
            <a:ext cx="2393156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PL_Bronze_MeteoFuture</a:t>
            </a:r>
            <a:endParaRPr lang="en-US" sz="1449" dirty="0"/>
          </a:p>
        </p:txBody>
      </p:sp>
      <p:sp>
        <p:nvSpPr>
          <p:cNvPr id="43" name="Text 41"/>
          <p:cNvSpPr/>
          <p:nvPr/>
        </p:nvSpPr>
        <p:spPr>
          <a:xfrm>
            <a:off x="13005593" y="4142105"/>
            <a:ext cx="398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13461524" y="4111466"/>
            <a:ext cx="1917700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/>
          <p:nvPr/>
        </p:nvSpPr>
        <p:spPr>
          <a:xfrm>
            <a:off x="13537724" y="4130516"/>
            <a:ext cx="1841500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PL_Ingest_Bronze</a:t>
            </a:r>
            <a:endParaRPr lang="en-US" sz="1449" dirty="0"/>
          </a:p>
        </p:txBody>
      </p:sp>
      <p:sp>
        <p:nvSpPr>
          <p:cNvPr id="46" name="Text 44"/>
          <p:cNvSpPr/>
          <p:nvPr/>
        </p:nvSpPr>
        <p:spPr>
          <a:xfrm>
            <a:off x="15512574" y="4142105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(currently orphaned).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9858375" y="4561364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0258425" y="4530725"/>
            <a:ext cx="2910681" cy="571817"/>
          </a:xfrm>
          <a:prstGeom prst="roundRect">
            <a:avLst>
              <a:gd name="adj" fmla="val 666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9" name="Text 47"/>
          <p:cNvSpPr/>
          <p:nvPr/>
        </p:nvSpPr>
        <p:spPr>
          <a:xfrm>
            <a:off x="10334625" y="4549775"/>
            <a:ext cx="2845601" cy="571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silver/weather_future_forecasts/</a:t>
            </a:r>
            <a:endParaRPr lang="en-US" sz="1449" dirty="0"/>
          </a:p>
        </p:txBody>
      </p:sp>
      <p:sp>
        <p:nvSpPr>
          <p:cNvPr id="50" name="Text 48"/>
          <p:cNvSpPr/>
          <p:nvPr/>
        </p:nvSpPr>
        <p:spPr>
          <a:xfrm>
            <a:off x="13302457" y="4561364"/>
            <a:ext cx="1332548" cy="55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Sierre logic not applied to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4930438" y="4530725"/>
            <a:ext cx="2359025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2" name="Text 50"/>
          <p:cNvSpPr/>
          <p:nvPr/>
        </p:nvSpPr>
        <p:spPr>
          <a:xfrm>
            <a:off x="15006637" y="4549775"/>
            <a:ext cx="2282825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df_futureweather_raw</a:t>
            </a:r>
            <a:endParaRPr lang="en-US" sz="1449" dirty="0"/>
          </a:p>
        </p:txBody>
      </p:sp>
      <p:sp>
        <p:nvSpPr>
          <p:cNvPr id="53" name="Text 51"/>
          <p:cNvSpPr/>
          <p:nvPr/>
        </p:nvSpPr>
        <p:spPr>
          <a:xfrm>
            <a:off x="17422812" y="4561364"/>
            <a:ext cx="131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9667875" y="5225097"/>
            <a:ext cx="8044815" cy="618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positional booking column rename (brittle Spark numeric suffix on duplicate headers).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9667875" y="5919470"/>
            <a:ext cx="8044815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the tariff source — currently triplicated (SQL, JSON, SCD2 table).</a:t>
            </a:r>
            <a:endParaRPr lang="en-US" sz="1575" dirty="0"/>
          </a:p>
        </p:txBody>
      </p:sp>
      <p:sp>
        <p:nvSpPr>
          <p:cNvPr id="56" name="Shape 54"/>
          <p:cNvSpPr/>
          <p:nvPr/>
        </p:nvSpPr>
        <p:spPr>
          <a:xfrm>
            <a:off x="914400" y="6651625"/>
            <a:ext cx="8286750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7" name="Shape 55"/>
          <p:cNvSpPr/>
          <p:nvPr/>
        </p:nvSpPr>
        <p:spPr>
          <a:xfrm>
            <a:off x="1152525" y="6889750"/>
            <a:ext cx="1183799" cy="290513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8" name="Text 56"/>
          <p:cNvSpPr/>
          <p:nvPr/>
        </p:nvSpPr>
        <p:spPr>
          <a:xfrm>
            <a:off x="1285875" y="6946900"/>
            <a:ext cx="993299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GDPR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52525" y="7294562"/>
            <a:ext cx="804481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GDPR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1012508" y="7730807"/>
            <a:ext cx="8026717" cy="1136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RLS rollout (US#26 / US#27 still in progress).</a:t>
            </a:r>
            <a:endParaRPr lang="en-US" sz="1575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written GDPR compliance assessment (US#35).</a:t>
            </a:r>
            <a:endParaRPr lang="en-US" sz="1575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Key Vault access policies + define a rotation cadence for knimeappsecret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9429750" y="6651625"/>
            <a:ext cx="8286750" cy="2835275"/>
          </a:xfrm>
          <a:prstGeom prst="roundRect">
            <a:avLst>
              <a:gd name="adj" fmla="val 33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2" name="Shape 60"/>
          <p:cNvSpPr/>
          <p:nvPr/>
        </p:nvSpPr>
        <p:spPr>
          <a:xfrm>
            <a:off x="9667875" y="6889750"/>
            <a:ext cx="787241" cy="290513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3" name="Text 61"/>
          <p:cNvSpPr/>
          <p:nvPr/>
        </p:nvSpPr>
        <p:spPr>
          <a:xfrm>
            <a:off x="9801225" y="6946900"/>
            <a:ext cx="59674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667875" y="7294562"/>
            <a:ext cx="804481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9667875" y="7730807"/>
            <a:ext cx="8044815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Re-train ML models on a longer window (current data ends 2023-04-19).</a:t>
            </a:r>
            <a:endParaRPr lang="en-US" sz="1575" dirty="0"/>
          </a:p>
        </p:txBody>
      </p:sp>
      <p:sp>
        <p:nvSpPr>
          <p:cNvPr id="66" name="Text 64"/>
          <p:cNvSpPr/>
          <p:nvPr/>
        </p:nvSpPr>
        <p:spPr>
          <a:xfrm>
            <a:off x="9858375" y="8165782"/>
            <a:ext cx="8323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</a:t>
            </a:r>
            <a:endParaRPr lang="en-US" sz="1575" dirty="0"/>
          </a:p>
        </p:txBody>
      </p:sp>
      <p:sp>
        <p:nvSpPr>
          <p:cNvPr id="67" name="Shape 65"/>
          <p:cNvSpPr/>
          <p:nvPr/>
        </p:nvSpPr>
        <p:spPr>
          <a:xfrm>
            <a:off x="10747851" y="8135144"/>
            <a:ext cx="2579687" cy="304959"/>
          </a:xfrm>
          <a:prstGeom prst="roundRect">
            <a:avLst>
              <a:gd name="adj" fmla="val 1249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8" name="Text 66"/>
          <p:cNvSpPr/>
          <p:nvPr/>
        </p:nvSpPr>
        <p:spPr>
          <a:xfrm>
            <a:off x="10824051" y="8154194"/>
            <a:ext cx="2504678" cy="304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14"/>
              </a:lnSpc>
              <a:buNone/>
            </a:pPr>
            <a:r>
              <a:rPr lang="en-US" sz="144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vw_prediction_accuracy</a:t>
            </a:r>
            <a:endParaRPr lang="en-US" sz="1449" dirty="0"/>
          </a:p>
        </p:txBody>
      </p:sp>
      <p:sp>
        <p:nvSpPr>
          <p:cNvPr id="69" name="Text 67"/>
          <p:cNvSpPr/>
          <p:nvPr/>
        </p:nvSpPr>
        <p:spPr>
          <a:xfrm>
            <a:off x="13460889" y="8165782"/>
            <a:ext cx="2032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first-class BI KPI.</a:t>
            </a:r>
            <a:endParaRPr lang="en-US" sz="1575" dirty="0"/>
          </a:p>
        </p:txBody>
      </p:sp>
      <p:sp>
        <p:nvSpPr>
          <p:cNvPr id="70" name="Text 68"/>
          <p:cNvSpPr/>
          <p:nvPr/>
        </p:nvSpPr>
        <p:spPr>
          <a:xfrm>
            <a:off x="9667875" y="8554402"/>
            <a:ext cx="8044815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assessment + capacity forecast (US#34).</a:t>
            </a:r>
            <a:endParaRPr lang="en-US" sz="1575" dirty="0"/>
          </a:p>
        </p:txBody>
      </p:sp>
      <p:sp>
        <p:nvSpPr>
          <p:cNvPr id="71" name="Text 69"/>
          <p:cNvSpPr/>
          <p:nvPr/>
        </p:nvSpPr>
        <p:spPr>
          <a:xfrm>
            <a:off x="9667875" y="8958739"/>
            <a:ext cx="8044815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4C4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Internationalisation of dashboards &amp; stories (US#33).</a:t>
            </a:r>
            <a:endParaRPr lang="en-US" sz="1575" dirty="0"/>
          </a:p>
        </p:txBody>
      </p:sp>
      <p:sp>
        <p:nvSpPr>
          <p:cNvPr id="72" name="Text 70"/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73" name="Shape 71"/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4" name="Text 72"/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B9E94-E638-66AC-974E-80736D6C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2A098E-DB7C-ABB9-18F3-6D9C3EB06E2B}"/>
              </a:ext>
            </a:extLst>
          </p:cNvPr>
          <p:cNvSpPr/>
          <p:nvPr/>
        </p:nvSpPr>
        <p:spPr>
          <a:xfrm>
            <a:off x="914400" y="1106805"/>
            <a:ext cx="81331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FURTHER IMPROVEMENTS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0092C1-286E-3808-2388-D5CF5DDC708E}"/>
              </a:ext>
            </a:extLst>
          </p:cNvPr>
          <p:cNvSpPr/>
          <p:nvPr/>
        </p:nvSpPr>
        <p:spPr>
          <a:xfrm>
            <a:off x="914400" y="1449705"/>
            <a:ext cx="8133112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5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&amp; Roadmap</a:t>
            </a:r>
            <a:endParaRPr lang="en-US" sz="5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0BB808-3419-205A-5774-BBE35AA894E4}"/>
              </a:ext>
            </a:extLst>
          </p:cNvPr>
          <p:cNvSpPr/>
          <p:nvPr/>
        </p:nvSpPr>
        <p:spPr>
          <a:xfrm>
            <a:off x="16233458" y="685800"/>
            <a:ext cx="121634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D2432816-8B1B-9190-5BEA-BD0921927305}"/>
              </a:ext>
            </a:extLst>
          </p:cNvPr>
          <p:cNvSpPr/>
          <p:nvPr/>
        </p:nvSpPr>
        <p:spPr>
          <a:xfrm>
            <a:off x="914400" y="9758363"/>
            <a:ext cx="1692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152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8A01D0EF-5E28-363C-65DA-B24C170E1953}"/>
              </a:ext>
            </a:extLst>
          </p:cNvPr>
          <p:cNvSpPr/>
          <p:nvPr/>
        </p:nvSpPr>
        <p:spPr>
          <a:xfrm>
            <a:off x="2759075" y="9846469"/>
            <a:ext cx="1383696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5B58D287-BF62-023E-2204-4C4140FC3135}"/>
              </a:ext>
            </a:extLst>
          </p:cNvPr>
          <p:cNvSpPr/>
          <p:nvPr/>
        </p:nvSpPr>
        <p:spPr>
          <a:xfrm>
            <a:off x="16824643" y="9772650"/>
            <a:ext cx="62515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00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29777E0-9523-0CC2-4618-D6D1B45AF780}"/>
              </a:ext>
            </a:extLst>
          </p:cNvPr>
          <p:cNvGrpSpPr/>
          <p:nvPr/>
        </p:nvGrpSpPr>
        <p:grpSpPr>
          <a:xfrm>
            <a:off x="894775" y="2324100"/>
            <a:ext cx="16691429" cy="6932295"/>
            <a:chOff x="2326382" y="3236714"/>
            <a:chExt cx="13042821" cy="5113497"/>
          </a:xfrm>
        </p:grpSpPr>
        <p:sp>
          <p:nvSpPr>
            <p:cNvPr id="75" name="Shape 4">
              <a:extLst>
                <a:ext uri="{FF2B5EF4-FFF2-40B4-BE49-F238E27FC236}">
                  <a16:creationId xmlns:a16="http://schemas.microsoft.com/office/drawing/2014/main" id="{464779B7-5CCB-906B-AAD7-2BF21BFA71F6}"/>
                </a:ext>
              </a:extLst>
            </p:cNvPr>
            <p:cNvSpPr/>
            <p:nvPr/>
          </p:nvSpPr>
          <p:spPr>
            <a:xfrm>
              <a:off x="2326382" y="3236714"/>
              <a:ext cx="6449735" cy="2485073"/>
            </a:xfrm>
            <a:prstGeom prst="roundRect">
              <a:avLst>
                <a:gd name="adj" fmla="val 1018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76" name="Shape 5">
              <a:extLst>
                <a:ext uri="{FF2B5EF4-FFF2-40B4-BE49-F238E27FC236}">
                  <a16:creationId xmlns:a16="http://schemas.microsoft.com/office/drawing/2014/main" id="{A2026E85-9728-6522-F66A-525A1ECF49AC}"/>
                </a:ext>
              </a:extLst>
            </p:cNvPr>
            <p:cNvSpPr/>
            <p:nvPr/>
          </p:nvSpPr>
          <p:spPr>
            <a:xfrm>
              <a:off x="2494974" y="3405307"/>
              <a:ext cx="506016" cy="506016"/>
            </a:xfrm>
            <a:prstGeom prst="roundRect">
              <a:avLst>
                <a:gd name="adj" fmla="val 18068768"/>
              </a:avLst>
            </a:prstGeom>
            <a:solidFill>
              <a:srgbClr val="2150FE"/>
            </a:solidFill>
            <a:ln/>
          </p:spPr>
          <p:txBody>
            <a:bodyPr/>
            <a:lstStyle/>
            <a:p>
              <a:endParaRPr lang="en-CH"/>
            </a:p>
          </p:txBody>
        </p:sp>
        <p:pic>
          <p:nvPicPr>
            <p:cNvPr id="77" name="Image 0" descr="preencoded.png">
              <a:extLst>
                <a:ext uri="{FF2B5EF4-FFF2-40B4-BE49-F238E27FC236}">
                  <a16:creationId xmlns:a16="http://schemas.microsoft.com/office/drawing/2014/main" id="{00E7F40C-7A29-0E7B-0A48-4AAA86ECFC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34158" y="3544372"/>
              <a:ext cx="227647" cy="227648"/>
            </a:xfrm>
            <a:prstGeom prst="rect">
              <a:avLst/>
            </a:prstGeom>
          </p:spPr>
        </p:pic>
        <p:sp>
          <p:nvSpPr>
            <p:cNvPr id="78" name="Text 6">
              <a:extLst>
                <a:ext uri="{FF2B5EF4-FFF2-40B4-BE49-F238E27FC236}">
                  <a16:creationId xmlns:a16="http://schemas.microsoft.com/office/drawing/2014/main" id="{F802360E-3BF4-4366-813F-06533FF3B891}"/>
                </a:ext>
              </a:extLst>
            </p:cNvPr>
            <p:cNvSpPr/>
            <p:nvPr/>
          </p:nvSpPr>
          <p:spPr>
            <a:xfrm>
              <a:off x="2494974" y="4054673"/>
              <a:ext cx="2648115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b="1" dirty="0">
                  <a:solidFill>
                    <a:srgbClr val="4C4C4D"/>
                  </a:solidFill>
                  <a:latin typeface="Arial" panose="020B0604020202020204" pitchFamily="34" charset="0"/>
                  <a:ea typeface="Crimson Pro Semi Bold" pitchFamily="34" charset="-122"/>
                  <a:cs typeface="Arial" panose="020B0604020202020204" pitchFamily="34" charset="0"/>
                </a:rPr>
                <a:t>Reproducibility &amp; Deployment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 7">
              <a:extLst>
                <a:ext uri="{FF2B5EF4-FFF2-40B4-BE49-F238E27FC236}">
                  <a16:creationId xmlns:a16="http://schemas.microsoft.com/office/drawing/2014/main" id="{EB66FDF9-125D-A141-601A-F18FC42058A2}"/>
                </a:ext>
              </a:extLst>
            </p:cNvPr>
            <p:cNvSpPr/>
            <p:nvPr/>
          </p:nvSpPr>
          <p:spPr>
            <a:xfrm>
              <a:off x="2494974" y="4404122"/>
              <a:ext cx="6112550" cy="8492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Wire infrastructure/future/workflows/ → CI for full Bicep rebuild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Activate deploy-sql.yml (needs Key Vault Secrets User on UAMI)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Bacpac seed for fresh DBs already in infrastructure/exported/</a:t>
              </a: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Azure Resource Group Review to lower costs.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Shape 8">
              <a:extLst>
                <a:ext uri="{FF2B5EF4-FFF2-40B4-BE49-F238E27FC236}">
                  <a16:creationId xmlns:a16="http://schemas.microsoft.com/office/drawing/2014/main" id="{2E6549F1-D8DE-FED2-BCE5-258B6AC9E9D0}"/>
                </a:ext>
              </a:extLst>
            </p:cNvPr>
            <p:cNvSpPr/>
            <p:nvPr/>
          </p:nvSpPr>
          <p:spPr>
            <a:xfrm>
              <a:off x="8919468" y="3236714"/>
              <a:ext cx="6449735" cy="2485073"/>
            </a:xfrm>
            <a:prstGeom prst="roundRect">
              <a:avLst>
                <a:gd name="adj" fmla="val 1018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81" name="Shape 9">
              <a:extLst>
                <a:ext uri="{FF2B5EF4-FFF2-40B4-BE49-F238E27FC236}">
                  <a16:creationId xmlns:a16="http://schemas.microsoft.com/office/drawing/2014/main" id="{0C1D5134-1FC3-BE47-1B23-FCAE9054AA27}"/>
                </a:ext>
              </a:extLst>
            </p:cNvPr>
            <p:cNvSpPr/>
            <p:nvPr/>
          </p:nvSpPr>
          <p:spPr>
            <a:xfrm>
              <a:off x="9088060" y="3405307"/>
              <a:ext cx="506016" cy="506016"/>
            </a:xfrm>
            <a:prstGeom prst="roundRect">
              <a:avLst>
                <a:gd name="adj" fmla="val 18068768"/>
              </a:avLst>
            </a:prstGeom>
            <a:solidFill>
              <a:srgbClr val="2150FE"/>
            </a:solidFill>
            <a:ln/>
          </p:spPr>
          <p:txBody>
            <a:bodyPr/>
            <a:lstStyle/>
            <a:p>
              <a:endParaRPr lang="en-CH"/>
            </a:p>
          </p:txBody>
        </p:sp>
        <p:pic>
          <p:nvPicPr>
            <p:cNvPr id="82" name="Image 1" descr="preencoded.png">
              <a:extLst>
                <a:ext uri="{FF2B5EF4-FFF2-40B4-BE49-F238E27FC236}">
                  <a16:creationId xmlns:a16="http://schemas.microsoft.com/office/drawing/2014/main" id="{8939AB95-249B-BEE4-A430-660AC87DCC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27244" y="3544372"/>
              <a:ext cx="227647" cy="227648"/>
            </a:xfrm>
            <a:prstGeom prst="rect">
              <a:avLst/>
            </a:prstGeom>
          </p:spPr>
        </p:pic>
        <p:sp>
          <p:nvSpPr>
            <p:cNvPr id="83" name="Text 10">
              <a:extLst>
                <a:ext uri="{FF2B5EF4-FFF2-40B4-BE49-F238E27FC236}">
                  <a16:creationId xmlns:a16="http://schemas.microsoft.com/office/drawing/2014/main" id="{5BE0819D-3698-13D2-D0B8-84F4ACB95C37}"/>
                </a:ext>
              </a:extLst>
            </p:cNvPr>
            <p:cNvSpPr/>
            <p:nvPr/>
          </p:nvSpPr>
          <p:spPr>
            <a:xfrm>
              <a:off x="9088060" y="4054673"/>
              <a:ext cx="2108716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050"/>
                </a:lnSpc>
              </a:pPr>
              <a:r>
                <a:rPr lang="en-US" b="1" dirty="0">
                  <a:solidFill>
                    <a:srgbClr val="4C4C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Code &amp; Data Quality</a:t>
              </a:r>
            </a:p>
          </p:txBody>
        </p:sp>
        <p:sp>
          <p:nvSpPr>
            <p:cNvPr id="84" name="Text 11">
              <a:extLst>
                <a:ext uri="{FF2B5EF4-FFF2-40B4-BE49-F238E27FC236}">
                  <a16:creationId xmlns:a16="http://schemas.microsoft.com/office/drawing/2014/main" id="{CB7C4F12-CF10-F2DF-3BBA-EA3E6692A48F}"/>
                </a:ext>
              </a:extLst>
            </p:cNvPr>
            <p:cNvSpPr/>
            <p:nvPr/>
          </p:nvSpPr>
          <p:spPr>
            <a:xfrm>
              <a:off x="9088060" y="4404122"/>
              <a:ext cx="6112550" cy="1149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Add LoadBatchId / IngestedAt to fact tables — no lineage today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Wire PL_Bronze_MeteoFuture into PL_Ingest_Bronze (currently orphaned)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Make notebook paths in ADF user-agnostic (currently hard-coded)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Unify the tariff source — currently triplicated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Shape 12">
              <a:extLst>
                <a:ext uri="{FF2B5EF4-FFF2-40B4-BE49-F238E27FC236}">
                  <a16:creationId xmlns:a16="http://schemas.microsoft.com/office/drawing/2014/main" id="{E845BA12-0F3E-0285-A384-DDF3ACCFE013}"/>
                </a:ext>
              </a:extLst>
            </p:cNvPr>
            <p:cNvSpPr/>
            <p:nvPr/>
          </p:nvSpPr>
          <p:spPr>
            <a:xfrm>
              <a:off x="2326382" y="5865138"/>
              <a:ext cx="6449735" cy="2485073"/>
            </a:xfrm>
            <a:prstGeom prst="roundRect">
              <a:avLst>
                <a:gd name="adj" fmla="val 1018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86" name="Shape 13">
              <a:extLst>
                <a:ext uri="{FF2B5EF4-FFF2-40B4-BE49-F238E27FC236}">
                  <a16:creationId xmlns:a16="http://schemas.microsoft.com/office/drawing/2014/main" id="{F1F5A7F6-73FE-7B7E-F306-8BEEB42F9522}"/>
                </a:ext>
              </a:extLst>
            </p:cNvPr>
            <p:cNvSpPr/>
            <p:nvPr/>
          </p:nvSpPr>
          <p:spPr>
            <a:xfrm>
              <a:off x="2494974" y="6033730"/>
              <a:ext cx="506016" cy="506016"/>
            </a:xfrm>
            <a:prstGeom prst="roundRect">
              <a:avLst>
                <a:gd name="adj" fmla="val 18068768"/>
              </a:avLst>
            </a:prstGeom>
            <a:solidFill>
              <a:srgbClr val="2150FE"/>
            </a:solidFill>
            <a:ln/>
          </p:spPr>
          <p:txBody>
            <a:bodyPr/>
            <a:lstStyle/>
            <a:p>
              <a:endParaRPr lang="en-CH"/>
            </a:p>
          </p:txBody>
        </p:sp>
        <p:pic>
          <p:nvPicPr>
            <p:cNvPr id="87" name="Image 2" descr="preencoded.png">
              <a:extLst>
                <a:ext uri="{FF2B5EF4-FFF2-40B4-BE49-F238E27FC236}">
                  <a16:creationId xmlns:a16="http://schemas.microsoft.com/office/drawing/2014/main" id="{650D8E6B-320A-43C7-ABBE-0E50CBE0A4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34158" y="6172795"/>
              <a:ext cx="227647" cy="227648"/>
            </a:xfrm>
            <a:prstGeom prst="rect">
              <a:avLst/>
            </a:prstGeom>
          </p:spPr>
        </p:pic>
        <p:sp>
          <p:nvSpPr>
            <p:cNvPr id="88" name="Text 14">
              <a:extLst>
                <a:ext uri="{FF2B5EF4-FFF2-40B4-BE49-F238E27FC236}">
                  <a16:creationId xmlns:a16="http://schemas.microsoft.com/office/drawing/2014/main" id="{3C5540BD-0AFA-404E-3D4D-DE3F48BE4B28}"/>
                </a:ext>
              </a:extLst>
            </p:cNvPr>
            <p:cNvSpPr/>
            <p:nvPr/>
          </p:nvSpPr>
          <p:spPr>
            <a:xfrm>
              <a:off x="2494974" y="6683097"/>
              <a:ext cx="2108716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>
                <a:lnSpc>
                  <a:spcPts val="2050"/>
                </a:lnSpc>
                <a:buNone/>
              </a:pPr>
              <a:r>
                <a:rPr lang="en-US" b="1" dirty="0">
                  <a:solidFill>
                    <a:srgbClr val="4C4C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Security &amp; GDPR</a:t>
              </a:r>
            </a:p>
          </p:txBody>
        </p:sp>
        <p:sp>
          <p:nvSpPr>
            <p:cNvPr id="89" name="Text 15">
              <a:extLst>
                <a:ext uri="{FF2B5EF4-FFF2-40B4-BE49-F238E27FC236}">
                  <a16:creationId xmlns:a16="http://schemas.microsoft.com/office/drawing/2014/main" id="{B7B6A68B-0A38-B9B2-E5FB-BD18AB524760}"/>
                </a:ext>
              </a:extLst>
            </p:cNvPr>
            <p:cNvSpPr/>
            <p:nvPr/>
          </p:nvSpPr>
          <p:spPr>
            <a:xfrm>
              <a:off x="2494974" y="7032546"/>
              <a:ext cx="6112550" cy="8492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Apply RLS and roles directly on </a:t>
              </a:r>
              <a:r>
                <a:rPr lang="en-US" sz="1600" dirty="0" err="1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PowerBI</a:t>
              </a: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 (need Premium Subscription + AD).</a:t>
              </a: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Populate ref_user_division_access for all Directors</a:t>
              </a: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Audit Key Vault access policies + define a rotation cadence for </a:t>
              </a:r>
              <a:r>
                <a:rPr lang="en-US" sz="1600" dirty="0" err="1">
                  <a:solidFill>
                    <a:srgbClr val="4C4C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knimeappsecret</a:t>
              </a:r>
              <a:endParaRPr lang="en-US" sz="1600" dirty="0"/>
            </a:p>
          </p:txBody>
        </p:sp>
        <p:sp>
          <p:nvSpPr>
            <p:cNvPr id="90" name="Shape 16">
              <a:extLst>
                <a:ext uri="{FF2B5EF4-FFF2-40B4-BE49-F238E27FC236}">
                  <a16:creationId xmlns:a16="http://schemas.microsoft.com/office/drawing/2014/main" id="{54F2F6B6-F233-2709-ADA8-F3C2CF84EED9}"/>
                </a:ext>
              </a:extLst>
            </p:cNvPr>
            <p:cNvSpPr/>
            <p:nvPr/>
          </p:nvSpPr>
          <p:spPr>
            <a:xfrm>
              <a:off x="8919468" y="5865138"/>
              <a:ext cx="6449735" cy="2485073"/>
            </a:xfrm>
            <a:prstGeom prst="roundRect">
              <a:avLst>
                <a:gd name="adj" fmla="val 1018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CH"/>
            </a:p>
          </p:txBody>
        </p:sp>
        <p:sp>
          <p:nvSpPr>
            <p:cNvPr id="91" name="Shape 17">
              <a:extLst>
                <a:ext uri="{FF2B5EF4-FFF2-40B4-BE49-F238E27FC236}">
                  <a16:creationId xmlns:a16="http://schemas.microsoft.com/office/drawing/2014/main" id="{08616C92-80AC-29A9-14E3-83365199E257}"/>
                </a:ext>
              </a:extLst>
            </p:cNvPr>
            <p:cNvSpPr/>
            <p:nvPr/>
          </p:nvSpPr>
          <p:spPr>
            <a:xfrm>
              <a:off x="9088060" y="6033730"/>
              <a:ext cx="506016" cy="506016"/>
            </a:xfrm>
            <a:prstGeom prst="roundRect">
              <a:avLst>
                <a:gd name="adj" fmla="val 18068768"/>
              </a:avLst>
            </a:prstGeom>
            <a:solidFill>
              <a:srgbClr val="2150FE"/>
            </a:solidFill>
            <a:ln/>
          </p:spPr>
          <p:txBody>
            <a:bodyPr/>
            <a:lstStyle/>
            <a:p>
              <a:endParaRPr lang="en-CH"/>
            </a:p>
          </p:txBody>
        </p:sp>
        <p:pic>
          <p:nvPicPr>
            <p:cNvPr id="92" name="Image 3" descr="preencoded.png">
              <a:extLst>
                <a:ext uri="{FF2B5EF4-FFF2-40B4-BE49-F238E27FC236}">
                  <a16:creationId xmlns:a16="http://schemas.microsoft.com/office/drawing/2014/main" id="{AB5547C0-CDDE-DDE4-B303-96453A594A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27244" y="6172795"/>
              <a:ext cx="227647" cy="227648"/>
            </a:xfrm>
            <a:prstGeom prst="rect">
              <a:avLst/>
            </a:prstGeom>
          </p:spPr>
        </p:pic>
        <p:sp>
          <p:nvSpPr>
            <p:cNvPr id="93" name="Text 18">
              <a:extLst>
                <a:ext uri="{FF2B5EF4-FFF2-40B4-BE49-F238E27FC236}">
                  <a16:creationId xmlns:a16="http://schemas.microsoft.com/office/drawing/2014/main" id="{FD583579-AD4B-5F50-33AC-83CBC49B9936}"/>
                </a:ext>
              </a:extLst>
            </p:cNvPr>
            <p:cNvSpPr/>
            <p:nvPr/>
          </p:nvSpPr>
          <p:spPr>
            <a:xfrm>
              <a:off x="9088060" y="6683097"/>
              <a:ext cx="2108716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050"/>
                </a:lnSpc>
              </a:pPr>
              <a:r>
                <a:rPr lang="en-US" b="1" dirty="0">
                  <a:solidFill>
                    <a:srgbClr val="4C4C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Roadmap</a:t>
              </a:r>
            </a:p>
          </p:txBody>
        </p:sp>
        <p:sp>
          <p:nvSpPr>
            <p:cNvPr id="94" name="Text 19">
              <a:extLst>
                <a:ext uri="{FF2B5EF4-FFF2-40B4-BE49-F238E27FC236}">
                  <a16:creationId xmlns:a16="http://schemas.microsoft.com/office/drawing/2014/main" id="{B029DCD2-C1B3-2971-8684-09C5176DB6B2}"/>
                </a:ext>
              </a:extLst>
            </p:cNvPr>
            <p:cNvSpPr/>
            <p:nvPr/>
          </p:nvSpPr>
          <p:spPr>
            <a:xfrm>
              <a:off x="9088060" y="7032546"/>
              <a:ext cx="6112550" cy="1149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Re-train ML models with different parameters and fix MAPE anomalies.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Promote vw_prediction_accuracy as a first-class BI KPI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Scalability assessment + capacity forecast (US#34)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4C4C4D"/>
                  </a:solidFill>
                  <a:latin typeface="Arial" panose="020B0604020202020204" pitchFamily="34" charset="0"/>
                  <a:ea typeface="Heebo" pitchFamily="34" charset="-122"/>
                  <a:cs typeface="Arial" panose="020B0604020202020204" pitchFamily="34" charset="0"/>
                </a:rPr>
                <a:t>Internationalisation of dashboards &amp; stories (US#33)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5682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2D47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3831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kern="0" spc="264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61564" y="650399"/>
            <a:ext cx="2388235" cy="18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 · ADF_DataCycleProject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028700"/>
            <a:ext cx="164592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914400" y="2667000"/>
            <a:ext cx="16952976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0" b="1" kern="0" spc="-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400" y="4781550"/>
            <a:ext cx="16952976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8519160"/>
            <a:ext cx="5337048" cy="185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14400" y="8742362"/>
            <a:ext cx="5337048" cy="439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github.com/sandersdHES/ ADF_DataCycleProject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53200" y="8519160"/>
            <a:ext cx="5337048" cy="185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553200" y="8742362"/>
            <a:ext cx="5337048" cy="238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docs/ARCHITECTURE.md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192000" y="8519160"/>
            <a:ext cx="5337048" cy="185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GUIDE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2192000" y="8742362"/>
            <a:ext cx="5337048" cy="238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docs/TECHNICAL_GUIDE.md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9777413"/>
            <a:ext cx="177768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DATA CYCLE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2844482" y="9855994"/>
            <a:ext cx="13951267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17024350" y="9792177"/>
            <a:ext cx="4254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5F2D9D-D9D1-514F-9A6E-985FAA81277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14e8e78-a44c-4001-bda1-4193bc92ba2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3274</Words>
  <Application>Microsoft Macintosh PowerPoint</Application>
  <PresentationFormat>Custom</PresentationFormat>
  <Paragraphs>528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Sanderson Dylan</cp:lastModifiedBy>
  <cp:revision>3</cp:revision>
  <dcterms:created xsi:type="dcterms:W3CDTF">2026-05-05T21:30:19Z</dcterms:created>
  <dcterms:modified xsi:type="dcterms:W3CDTF">2026-05-06T12:21:00Z</dcterms:modified>
</cp:coreProperties>
</file>