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5" r:id="rId5"/>
    <p:sldId id="280" r:id="rId6"/>
    <p:sldId id="261" r:id="rId7"/>
    <p:sldId id="278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64"/>
  </p:normalViewPr>
  <p:slideViewPr>
    <p:cSldViewPr snapToGrid="0" snapToObjects="1">
      <p:cViewPr varScale="1">
        <p:scale>
          <a:sx n="90" d="100"/>
          <a:sy n="90" d="100"/>
        </p:scale>
        <p:origin x="216" y="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9144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FFA000"/>
                </a:solidFill>
                <a:latin typeface="Calibri"/>
              </a:rPr>
              <a:t>BELLEVUE DATA 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An end-to-end Azure data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Ingestion  ·  Medallion Lakehouse  ·  ML Forecasting  ·  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HES-SO Bellevue Campus  ·  Energy Monitoring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863" y="4937760"/>
            <a:ext cx="1517904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8863" y="4937760"/>
            <a:ext cx="1517904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>
                <a:solidFill>
                  <a:srgbClr val="0D47A1"/>
                </a:solidFill>
                <a:latin typeface="Calibri"/>
              </a:rPr>
              <a:t>Azure Data Factory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207" y="4937760"/>
            <a:ext cx="1517904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118207" y="4937760"/>
            <a:ext cx="1517904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>
                <a:solidFill>
                  <a:srgbClr val="0D47A1"/>
                </a:solidFill>
                <a:latin typeface="Calibri"/>
              </a:rPr>
              <a:t>Databricks (PySpark)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27551" y="4937760"/>
            <a:ext cx="1517904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27551" y="4937760"/>
            <a:ext cx="1517904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>
                <a:solidFill>
                  <a:srgbClr val="0D47A1"/>
                </a:solidFill>
                <a:latin typeface="Calibri"/>
              </a:rPr>
              <a:t>ADLS Gen2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36895" y="4937760"/>
            <a:ext cx="1517904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36895" y="4937760"/>
            <a:ext cx="1517904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>
                <a:solidFill>
                  <a:srgbClr val="0D47A1"/>
                </a:solidFill>
                <a:latin typeface="Calibri"/>
              </a:rPr>
              <a:t>Azure 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6239" y="4937760"/>
            <a:ext cx="1517904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46239" y="4937760"/>
            <a:ext cx="1517904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>
                <a:solidFill>
                  <a:srgbClr val="0D47A1"/>
                </a:solidFill>
                <a:latin typeface="Calibri"/>
              </a:rPr>
              <a:t>KNIME Server (GBT)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55583" y="4937760"/>
            <a:ext cx="1517904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55583" y="4937760"/>
            <a:ext cx="1517904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>
                <a:solidFill>
                  <a:srgbClr val="0D47A1"/>
                </a:solidFill>
                <a:latin typeface="Calibri"/>
              </a:rPr>
              <a:t>Power BI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64927" y="4937760"/>
            <a:ext cx="1517904" cy="411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164927" y="4937760"/>
            <a:ext cx="1517904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>
                <a:solidFill>
                  <a:srgbClr val="0D47A1"/>
                </a:solidFill>
                <a:latin typeface="Calibri"/>
              </a:rPr>
              <a:t>SAP Analytics Cloud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FFA000"/>
                </a:solidFill>
                <a:latin typeface="Calibri"/>
              </a:rPr>
              <a:t>Project Presentation  ·  Sprint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What we will cover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48640" y="1280160"/>
            <a:ext cx="640080" cy="640080"/>
          </a:xfrm>
          <a:prstGeom prst="ellipse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4008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261872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212121"/>
                </a:solidFill>
                <a:latin typeface="Calibri"/>
              </a:rPr>
              <a:t>Introduction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572768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Project context and objectives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057400"/>
            <a:ext cx="640080" cy="640080"/>
          </a:xfrm>
          <a:prstGeom prst="ellipse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057400"/>
            <a:ext cx="64008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039112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212121"/>
                </a:solidFill>
                <a:latin typeface="Calibri"/>
              </a:rPr>
              <a:t>Team Presentation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350008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Who we are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2834640"/>
            <a:ext cx="640080" cy="640080"/>
          </a:xfrm>
          <a:prstGeom prst="ellipse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2834640"/>
            <a:ext cx="64008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816352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212121"/>
                </a:solidFill>
                <a:latin typeface="Calibri"/>
              </a:rPr>
              <a:t>How we organised the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127248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Agile cadence, sprints, tooling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611880"/>
            <a:ext cx="640080" cy="640080"/>
          </a:xfrm>
          <a:prstGeom prst="ellipse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3611880"/>
            <a:ext cx="64008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593592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212121"/>
                </a:solidFill>
                <a:latin typeface="Calibri"/>
              </a:rPr>
              <a:t>Architecture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3904488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End-to-end system view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4389120"/>
            <a:ext cx="640080" cy="640080"/>
          </a:xfrm>
          <a:prstGeom prst="ellipse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4389120"/>
            <a:ext cx="64008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370832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212121"/>
                </a:solidFill>
                <a:latin typeface="Calibri"/>
              </a:rPr>
              <a:t>Data 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681728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Daily orchestration &amp; triggers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166360"/>
            <a:ext cx="640080" cy="640080"/>
          </a:xfrm>
          <a:prstGeom prst="ellipse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5166360"/>
            <a:ext cx="64008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5148072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212121"/>
                </a:solidFill>
                <a:latin typeface="Calibri"/>
              </a:rPr>
              <a:t>Silver Transformation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5458968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Bronze → Silver cleansing</a:t>
            </a:r>
          </a:p>
        </p:txBody>
      </p:sp>
      <p:sp>
        <p:nvSpPr>
          <p:cNvPr id="30" name="Oval 29"/>
          <p:cNvSpPr/>
          <p:nvPr/>
        </p:nvSpPr>
        <p:spPr>
          <a:xfrm>
            <a:off x="6400800" y="1280160"/>
            <a:ext cx="640080" cy="640080"/>
          </a:xfrm>
          <a:prstGeom prst="ellipse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0" y="1280160"/>
            <a:ext cx="64008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1261872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212121"/>
                </a:solidFill>
                <a:latin typeface="Calibri"/>
              </a:rPr>
              <a:t>Gold Transformation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78040" y="1572768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Silver → Gold dims &amp; facts</a:t>
            </a:r>
          </a:p>
        </p:txBody>
      </p:sp>
      <p:sp>
        <p:nvSpPr>
          <p:cNvPr id="34" name="Oval 33"/>
          <p:cNvSpPr/>
          <p:nvPr/>
        </p:nvSpPr>
        <p:spPr>
          <a:xfrm>
            <a:off x="6400800" y="2057400"/>
            <a:ext cx="640080" cy="640080"/>
          </a:xfrm>
          <a:prstGeom prst="ellipse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0800" y="2057400"/>
            <a:ext cx="64008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2039112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212121"/>
                </a:solidFill>
                <a:latin typeface="Calibri"/>
              </a:rPr>
              <a:t>Machine Learning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2350008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KNIME GBT forecasts</a:t>
            </a:r>
          </a:p>
        </p:txBody>
      </p:sp>
      <p:sp>
        <p:nvSpPr>
          <p:cNvPr id="38" name="Oval 37"/>
          <p:cNvSpPr/>
          <p:nvPr/>
        </p:nvSpPr>
        <p:spPr>
          <a:xfrm>
            <a:off x="6400800" y="2834640"/>
            <a:ext cx="640080" cy="640080"/>
          </a:xfrm>
          <a:prstGeom prst="ellipse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00800" y="2834640"/>
            <a:ext cx="64008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78040" y="2816352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212121"/>
                </a:solidFill>
                <a:latin typeface="Calibri"/>
              </a:rPr>
              <a:t>Power BI Dashboards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78040" y="3127248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Operational BI</a:t>
            </a:r>
          </a:p>
        </p:txBody>
      </p:sp>
      <p:sp>
        <p:nvSpPr>
          <p:cNvPr id="42" name="Oval 41"/>
          <p:cNvSpPr/>
          <p:nvPr/>
        </p:nvSpPr>
        <p:spPr>
          <a:xfrm>
            <a:off x="6400800" y="3611880"/>
            <a:ext cx="640080" cy="640080"/>
          </a:xfrm>
          <a:prstGeom prst="ellipse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800" y="3611880"/>
            <a:ext cx="64008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78040" y="3593592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212121"/>
                </a:solidFill>
                <a:latin typeface="Calibri"/>
              </a:rPr>
              <a:t>SAC Dashboards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78040" y="3904488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SAP Analytics Cloud</a:t>
            </a:r>
          </a:p>
        </p:txBody>
      </p:sp>
      <p:sp>
        <p:nvSpPr>
          <p:cNvPr id="46" name="Oval 45"/>
          <p:cNvSpPr/>
          <p:nvPr/>
        </p:nvSpPr>
        <p:spPr>
          <a:xfrm>
            <a:off x="6400800" y="4389120"/>
            <a:ext cx="640080" cy="640080"/>
          </a:xfrm>
          <a:prstGeom prst="ellipse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00800" y="4389120"/>
            <a:ext cx="64008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78040" y="4370832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212121"/>
                </a:solidFill>
                <a:latin typeface="Calibri"/>
              </a:rPr>
              <a:t>Further improvements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78040" y="4681728"/>
            <a:ext cx="47548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Roadmap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Bellevue Data Cycle  •  HES-SO Bellevue Campus  •  ADF_DataCycleProject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1. 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Bellevue Data Cycle — context &amp;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760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0D47A1"/>
                </a:solidFill>
                <a:latin typeface="Calibri"/>
              </a:rPr>
              <a:t>Project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5760720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HES-SO Bellevue campus runs solar PV, energy meters, weather sensors and a room-booking system.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Data lives on-premises (SMB / SFTP shares on a Windows VM, IP 10.130.25.152).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Goal — turn this raw operational data into reliable analytics and forecasts that staff and management can actually use.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5760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0D47A1"/>
                </a:solidFill>
                <a:latin typeface="Calibri"/>
              </a:rPr>
              <a:t>Why a Medallion lakehouse?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760720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Bronze keeps raw fidelity &amp; traceability of source files.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Silver isolates cleaning, GDPR masking and dedup logic in one place.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Gold is a star schema in Azure SQL — ready for BI, ML and SAC consumption.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188720"/>
            <a:ext cx="5303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0D47A1"/>
                </a:solidFill>
                <a:latin typeface="Calibri"/>
              </a:rPr>
              <a:t>Deliverables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1645920"/>
            <a:ext cx="5303520" cy="105156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20840" y="1737360"/>
            <a:ext cx="50292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1976D2"/>
                </a:solidFill>
                <a:latin typeface="Calibri"/>
              </a:rPr>
              <a:t>Daily ingestion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14884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Calibri"/>
              </a:rPr>
              <a:t>4 sources ingested incrementally via ADF + Self-Hosted IR.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2788920"/>
            <a:ext cx="5303520" cy="105156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20840" y="2880360"/>
            <a:ext cx="50292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FFA000"/>
                </a:solidFill>
                <a:latin typeface="Calibri"/>
              </a:rPr>
              <a:t>Lakehouse + DWH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329184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Calibri"/>
              </a:rPr>
              <a:t>Bronze/Silver in ADLS Gen2, Gold in Azure SQL (8 dims, 7 facts, 7 views).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3931920"/>
            <a:ext cx="5303520" cy="105156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7B1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20840" y="4023360"/>
            <a:ext cx="50292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7B1FA2"/>
                </a:solidFill>
                <a:latin typeface="Calibri"/>
              </a:rPr>
              <a:t>ML forecasts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443484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Calibri"/>
              </a:rPr>
              <a:t>Solar production &amp; building consumption — KNIME Gradient Boosted Trees.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5074920"/>
            <a:ext cx="5303520" cy="10515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20840" y="5166360"/>
            <a:ext cx="50292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2E7D32"/>
                </a:solidFill>
                <a:latin typeface="Calibri"/>
              </a:rPr>
              <a:t>BI delivery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557784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Calibri"/>
              </a:rPr>
              <a:t>Power BI reports + SAC dashboards, with RBAC &amp; RLS.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Bellevue Data Cycle  •  HES-SO Bellevue Campus  •  ADF_DataCycleProject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2.  Team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Group 3 — HES-SO  ·  ADF_DataCycleProject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336800" y="1524000"/>
            <a:ext cx="3566160" cy="19659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565400" y="1752600"/>
            <a:ext cx="822960" cy="822960"/>
          </a:xfrm>
          <a:prstGeom prst="ellipse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565400" y="1752600"/>
            <a:ext cx="822960" cy="8229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9800" y="1752600"/>
            <a:ext cx="2286000" cy="3139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fr-CH" sz="1800" b="1" dirty="0">
                <a:solidFill>
                  <a:srgbClr val="0D47A1"/>
                </a:solidFill>
                <a:latin typeface="Calibri"/>
              </a:rPr>
              <a:t>Dylan Sanderson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9800" y="2120900"/>
            <a:ext cx="2286000" cy="22159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fr-CH" sz="1200" b="1" dirty="0" err="1">
                <a:solidFill>
                  <a:srgbClr val="FFA000"/>
                </a:solidFill>
                <a:latin typeface="Calibri"/>
              </a:rPr>
              <a:t>Switzerland</a:t>
            </a:r>
            <a:endParaRPr sz="1200" b="1" dirty="0">
              <a:solidFill>
                <a:srgbClr val="FFA000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565400" y="2667000"/>
            <a:ext cx="310896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endParaRPr sz="1200" b="0">
              <a:solidFill>
                <a:srgbClr val="212121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86500" y="1524000"/>
            <a:ext cx="3566160" cy="19659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515100" y="1752600"/>
            <a:ext cx="822960" cy="822960"/>
          </a:xfrm>
          <a:prstGeom prst="ellipse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5100" y="1752600"/>
            <a:ext cx="822960" cy="8229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29500" y="1752600"/>
            <a:ext cx="22860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fr-CH" sz="1800" b="1" dirty="0">
                <a:solidFill>
                  <a:srgbClr val="0D47A1"/>
                </a:solidFill>
                <a:latin typeface="Calibri"/>
              </a:rPr>
              <a:t>Adriel Ferreira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0" y="2120900"/>
            <a:ext cx="2286000" cy="22159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fr-CH" sz="1200" b="1" dirty="0">
                <a:solidFill>
                  <a:srgbClr val="FFA000"/>
                </a:solidFill>
                <a:latin typeface="Calibri"/>
              </a:rPr>
              <a:t>Romania</a:t>
            </a:r>
            <a:endParaRPr sz="1200" b="1" dirty="0">
              <a:solidFill>
                <a:srgbClr val="FFA000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515100" y="2667000"/>
            <a:ext cx="310896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endParaRPr sz="1200" b="0">
              <a:solidFill>
                <a:srgbClr val="212121"/>
              </a:solidFill>
              <a:latin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336800" y="3873500"/>
            <a:ext cx="3566160" cy="19659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2565400" y="4102100"/>
            <a:ext cx="822960" cy="822960"/>
          </a:xfrm>
          <a:prstGeom prst="ellipse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565400" y="4102100"/>
            <a:ext cx="822960" cy="8229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9800" y="4102100"/>
            <a:ext cx="22860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fr-CH" sz="1800" b="1" dirty="0">
                <a:solidFill>
                  <a:srgbClr val="0D47A1"/>
                </a:solidFill>
                <a:latin typeface="Calibri"/>
              </a:rPr>
              <a:t>Abril Palau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9800" y="4470400"/>
            <a:ext cx="2286000" cy="22159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fr-CH" sz="1200" b="1" dirty="0">
                <a:solidFill>
                  <a:srgbClr val="FFA000"/>
                </a:solidFill>
                <a:latin typeface="Calibri"/>
              </a:rPr>
              <a:t>Spain</a:t>
            </a:r>
            <a:endParaRPr sz="1200" b="1" dirty="0">
              <a:solidFill>
                <a:srgbClr val="FFA000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565400" y="5016500"/>
            <a:ext cx="310896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endParaRPr sz="1200" b="0">
              <a:solidFill>
                <a:srgbClr val="212121"/>
              </a:solidFill>
              <a:latin typeface="Calibri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6286500" y="3873500"/>
            <a:ext cx="3566160" cy="19659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515100" y="4102100"/>
            <a:ext cx="822960" cy="822960"/>
          </a:xfrm>
          <a:prstGeom prst="ellipse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15100" y="4102100"/>
            <a:ext cx="822960" cy="8229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FM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9500" y="4102100"/>
            <a:ext cx="22860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fr-CH" sz="1800" b="1" dirty="0">
                <a:solidFill>
                  <a:srgbClr val="0D47A1"/>
                </a:solidFill>
                <a:latin typeface="Calibri"/>
              </a:rPr>
              <a:t>Francisco S. Mesquita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0" y="4470400"/>
            <a:ext cx="2286000" cy="22159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fr-CH" sz="1200" b="1" dirty="0">
                <a:solidFill>
                  <a:srgbClr val="FFA000"/>
                </a:solidFill>
                <a:latin typeface="Calibri"/>
              </a:rPr>
              <a:t>Portugal</a:t>
            </a:r>
            <a:endParaRPr sz="1200" b="1" dirty="0">
              <a:solidFill>
                <a:srgbClr val="FFA000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515100" y="5016500"/>
            <a:ext cx="310896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endParaRPr sz="1200" b="0">
              <a:solidFill>
                <a:srgbClr val="21212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36419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3.  How we organised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Agile Scrum  ·  6 sprints of 2 weeks  ·  39 user stories  ·  ~228 SP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4114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0D47A1"/>
                </a:solidFill>
                <a:latin typeface="Calibri"/>
              </a:rPr>
              <a:t>Practices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411480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MoSCoW prioritisation per user story.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Two-week sprints, sprint reviews &amp; retros.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User stories sized in story points (planning poker).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Definition of Done shared across the team.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Daily standups during build sprints.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4114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0D47A1"/>
                </a:solidFill>
                <a:latin typeface="Calibri"/>
              </a:rPr>
              <a:t>Tooling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43400"/>
            <a:ext cx="4114800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GitHub repo + Issues / Projects board.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Pull Requests with review (validate.yml gate).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GitHub Actions (deploy-adf.yml) on push to main — OIDC, no secrets.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Excel agile plan exported to Markdown / JSON for traceability.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Architecture diagrams in Mermaid (docs/ARCHITECTURE.md).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143000"/>
            <a:ext cx="6858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0D47A1"/>
                </a:solidFill>
                <a:latin typeface="Calibri"/>
              </a:rPr>
              <a:t>Sprint roadmap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1600200"/>
            <a:ext cx="1097280" cy="502920"/>
          </a:xfrm>
          <a:prstGeom prst="round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37760" y="1600200"/>
            <a:ext cx="10972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Sprint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103120"/>
            <a:ext cx="1097280" cy="2011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Calibri"/>
              </a:rPr>
              <a:t>17 Feb → 02 Mar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635000" cy="4114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63640" y="1756249"/>
            <a:ext cx="635000" cy="190821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1" dirty="0">
                <a:solidFill>
                  <a:srgbClr val="FFFFFF"/>
                </a:solidFill>
                <a:latin typeface="Calibri"/>
              </a:rPr>
              <a:t> Setup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057400"/>
            <a:ext cx="5120640" cy="2011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8 SP  ·  Done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0" y="2313432"/>
            <a:ext cx="1097280" cy="502920"/>
          </a:xfrm>
          <a:prstGeom prst="round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37760" y="2313432"/>
            <a:ext cx="10972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Sprint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2816352"/>
            <a:ext cx="1097280" cy="2011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Calibri"/>
              </a:rPr>
              <a:t>03 Mar → 16 Mar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359152"/>
            <a:ext cx="1892300" cy="4114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63640" y="2359152"/>
            <a:ext cx="18923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1" dirty="0">
                <a:solidFill>
                  <a:srgbClr val="FFFFFF"/>
                </a:solidFill>
                <a:latin typeface="Calibri"/>
              </a:rPr>
              <a:t>  Core ingestion pipelines (solar, conso, weather)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770632"/>
            <a:ext cx="5120640" cy="2011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24 SP  ·  Done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0" y="3026664"/>
            <a:ext cx="1097280" cy="502920"/>
          </a:xfrm>
          <a:prstGeom prst="round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37760" y="3026664"/>
            <a:ext cx="10972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Sprint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3529584"/>
            <a:ext cx="1097280" cy="2011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Calibri"/>
              </a:rPr>
              <a:t>17 Mar → 30 Mar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3072384"/>
            <a:ext cx="2908300" cy="4114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63640" y="3072384"/>
            <a:ext cx="29083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1" dirty="0">
                <a:solidFill>
                  <a:srgbClr val="FFFFFF"/>
                </a:solidFill>
                <a:latin typeface="Calibri"/>
              </a:rPr>
              <a:t>  Remaining ingestion, security, monitoring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483864"/>
            <a:ext cx="5120640" cy="2011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37 SP  ·  Done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0" y="3739896"/>
            <a:ext cx="1097280" cy="502920"/>
          </a:xfrm>
          <a:prstGeom prst="round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937760" y="3739896"/>
            <a:ext cx="10972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Sprint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4242816"/>
            <a:ext cx="1097280" cy="2011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Calibri"/>
              </a:rPr>
              <a:t>31 Mar → 13 Apr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785616"/>
            <a:ext cx="3695700" cy="4114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63640" y="3785616"/>
            <a:ext cx="36957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1" dirty="0">
                <a:solidFill>
                  <a:srgbClr val="FFFFFF"/>
                </a:solidFill>
                <a:latin typeface="Calibri"/>
              </a:rPr>
              <a:t>  Silver layer + Gold DB + ML production 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4197096"/>
            <a:ext cx="5120640" cy="2011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47 SP  ·  Done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37760" y="4453128"/>
            <a:ext cx="1097280" cy="502920"/>
          </a:xfrm>
          <a:prstGeom prst="round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937760" y="4453128"/>
            <a:ext cx="10972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Sprint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60" y="4956048"/>
            <a:ext cx="1097280" cy="2011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Calibri"/>
              </a:rPr>
              <a:t>14 Apr → 27 Apr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4498848"/>
            <a:ext cx="5118100" cy="4114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63640" y="4498848"/>
            <a:ext cx="51181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1" dirty="0">
                <a:solidFill>
                  <a:srgbClr val="FFFFFF"/>
                </a:solidFill>
                <a:latin typeface="Calibri"/>
              </a:rPr>
              <a:t>  BI dashboards, KNIME integration, ML consumption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4910328"/>
            <a:ext cx="5120640" cy="2011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65 SP  ·  Done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0" y="5166360"/>
            <a:ext cx="1097280" cy="502920"/>
          </a:xfrm>
          <a:prstGeom prst="round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937760" y="5166360"/>
            <a:ext cx="10972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Sprint 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37760" y="5669280"/>
            <a:ext cx="1097280" cy="2011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Calibri"/>
              </a:rPr>
              <a:t>28 Apr → 08 May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63640" y="5212080"/>
            <a:ext cx="3695700" cy="411480"/>
          </a:xfrm>
          <a:prstGeom prst="round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63640" y="5212080"/>
            <a:ext cx="36957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1" dirty="0">
                <a:solidFill>
                  <a:srgbClr val="FFFFFF"/>
                </a:solidFill>
                <a:latin typeface="Calibri"/>
              </a:rPr>
              <a:t>  Predictions in DWH, docs, deployment, presentation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5623560"/>
            <a:ext cx="5120640" cy="20116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47 SP  ·  In progress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63640" y="5971032"/>
            <a:ext cx="228600" cy="1645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537960" y="5952744"/>
            <a:ext cx="109728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Done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26680" y="5971032"/>
            <a:ext cx="228600" cy="164592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001000" y="5952744"/>
            <a:ext cx="109728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In progress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89720" y="5971032"/>
            <a:ext cx="228600" cy="164592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464040" y="5952744"/>
            <a:ext cx="109728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Planned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Bellevue Data Cycle  •  HES-SO Bellevue Campus  •  ADF_DataCycleProject</a:t>
            </a:r>
          </a:p>
        </p:txBody>
      </p:sp>
    </p:spTree>
    <p:extLst>
      <p:ext uri="{BB962C8B-B14F-4D97-AF65-F5344CB8AC3E}">
        <p14:creationId xmlns:p14="http://schemas.microsoft.com/office/powerpoint/2010/main" val="3025039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4. 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Medallion lakehouse on Azure  ·  on-prem sources → analytics-ready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005840"/>
            <a:ext cx="21945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1">
                <a:solidFill>
                  <a:srgbClr val="1976D2"/>
                </a:solidFill>
                <a:latin typeface="Calibri"/>
              </a:rPr>
              <a:t>ON-PREMISES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280160"/>
            <a:ext cx="2194560" cy="77724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353312"/>
            <a:ext cx="20116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0D47A1"/>
                </a:solidFill>
                <a:latin typeface="Calibri"/>
              </a:rPr>
              <a:t>SMB · Bookings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45920"/>
            <a:ext cx="2011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Room reservations (TSV)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2167128"/>
            <a:ext cx="2194560" cy="77724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240280"/>
            <a:ext cx="20116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0D47A1"/>
                </a:solidFill>
                <a:latin typeface="Calibri"/>
              </a:rPr>
              <a:t>SMB · Conso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532888"/>
            <a:ext cx="2011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Energy / temp / humidity (UTF-16)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3054096"/>
            <a:ext cx="2194560" cy="77724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3127248"/>
            <a:ext cx="20116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0D47A1"/>
                </a:solidFill>
                <a:latin typeface="Calibri"/>
              </a:rPr>
              <a:t>SMB · Solarlogs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419856"/>
            <a:ext cx="2011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Sungrow inverter CSVs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941064"/>
            <a:ext cx="2194560" cy="77724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4014216"/>
            <a:ext cx="20116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0D47A1"/>
                </a:solidFill>
                <a:latin typeface="Calibri"/>
              </a:rPr>
              <a:t>SFTP · Weather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306824"/>
            <a:ext cx="2011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Past + 3 h forecast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4919472"/>
            <a:ext cx="2194560" cy="5029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EF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74320" y="4919472"/>
            <a:ext cx="219456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>
                <a:solidFill>
                  <a:srgbClr val="EF6C00"/>
                </a:solidFill>
                <a:latin typeface="Calibri"/>
              </a:rPr>
              <a:t>Self-Hosted IR (Win VM)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514600" y="3108960"/>
            <a:ext cx="502920" cy="32004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063240" y="1280160"/>
            <a:ext cx="2240280" cy="48463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063240" y="1353312"/>
            <a:ext cx="22402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300" b="1">
                <a:solidFill>
                  <a:srgbClr val="0D47A1"/>
                </a:solidFill>
                <a:latin typeface="Calibri"/>
              </a:rPr>
              <a:t>Azure Data Factory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1664208"/>
            <a:ext cx="22402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group3-df  ·  9 pipelines  ·  2 daily triggers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72968" y="2057400"/>
            <a:ext cx="2020824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27832" y="2093976"/>
            <a:ext cx="1911096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0D47A1"/>
                </a:solidFill>
                <a:latin typeface="Calibri"/>
              </a:rPr>
              <a:t>PL_Ingest_Bronze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27832" y="2313432"/>
            <a:ext cx="1911096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Master orchestrator (07:15)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72968" y="2624328"/>
            <a:ext cx="2020824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227832" y="2660904"/>
            <a:ext cx="1911096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0D47A1"/>
                </a:solidFill>
                <a:latin typeface="Calibri"/>
              </a:rPr>
              <a:t>PL_Bronze_Solar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27832" y="2880360"/>
            <a:ext cx="1911096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Inverter CSVs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72968" y="3191256"/>
            <a:ext cx="2020824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27832" y="3227832"/>
            <a:ext cx="1911096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0D47A1"/>
                </a:solidFill>
                <a:latin typeface="Calibri"/>
              </a:rPr>
              <a:t>PL_Bronze_Bookings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27832" y="3447288"/>
            <a:ext cx="1911096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Room reservations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72968" y="3758184"/>
            <a:ext cx="2020824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227832" y="3794760"/>
            <a:ext cx="1911096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0D47A1"/>
                </a:solidFill>
                <a:latin typeface="Calibri"/>
              </a:rPr>
              <a:t>PL_Bronze_Meteo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27832" y="4014216"/>
            <a:ext cx="1911096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SFTP weather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72968" y="4325112"/>
            <a:ext cx="2020824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27832" y="4361688"/>
            <a:ext cx="1911096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0D47A1"/>
                </a:solidFill>
                <a:latin typeface="Calibri"/>
              </a:rPr>
              <a:t>PL_Bronze_Conso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27832" y="4581144"/>
            <a:ext cx="1911096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Power / temp / humidity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172968" y="4892040"/>
            <a:ext cx="2020824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227832" y="4928616"/>
            <a:ext cx="1911096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0D47A1"/>
                </a:solidFill>
                <a:latin typeface="Calibri"/>
              </a:rPr>
              <a:t>PL_SAC_Export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27832" y="5148072"/>
            <a:ext cx="1911096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Gold → file share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172968" y="5458968"/>
            <a:ext cx="2020824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227832" y="5495544"/>
            <a:ext cx="1911096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0D47A1"/>
                </a:solidFill>
                <a:latin typeface="Calibri"/>
              </a:rPr>
              <a:t>PL_Upload_Pred_Gold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27832" y="5715000"/>
            <a:ext cx="1911096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KNIME (09:30)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5349240" y="3108960"/>
            <a:ext cx="411480" cy="32004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806440" y="1280160"/>
            <a:ext cx="2194560" cy="1417320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806440" y="1280160"/>
            <a:ext cx="219456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E65100"/>
                </a:solidFill>
                <a:latin typeface="Calibri"/>
              </a:rPr>
              <a:t>🥉  BRONZE  ·  ADLS Gen2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691640"/>
            <a:ext cx="1920240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212121"/>
                </a:solidFill>
                <a:latin typeface="Calibri"/>
              </a:rPr>
              <a:t>Raw CSV (UTF-8 / UTF-16)
binary copy, watermarked
container  bronze/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806440" y="2788920"/>
            <a:ext cx="2194560" cy="1417320"/>
          </a:xfrm>
          <a:prstGeom prst="roundRect">
            <a:avLst/>
          </a:prstGeom>
          <a:solidFill>
            <a:srgbClr val="ECEFF1"/>
          </a:solidFill>
          <a:ln w="19050">
            <a:solidFill>
              <a:srgbClr val="455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806440" y="2788920"/>
            <a:ext cx="219456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455A64"/>
                </a:solidFill>
                <a:latin typeface="Calibri"/>
              </a:rPr>
              <a:t>🥈  SILVER  ·  ADLS Gen2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00" y="3200400"/>
            <a:ext cx="1920240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212121"/>
                </a:solidFill>
                <a:latin typeface="Calibri"/>
              </a:rPr>
              <a:t>Parquet · cleaned · typed
UTF-16 cleanup, GDPR
dedup, Sierre synthesis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806440" y="4297680"/>
            <a:ext cx="2194560" cy="169164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806440" y="4297680"/>
            <a:ext cx="219456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A000"/>
                </a:solidFill>
                <a:latin typeface="Calibri"/>
              </a:rPr>
              <a:t>🥇  GOLD  ·  Azure SQL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43600" y="4709160"/>
            <a:ext cx="1920240" cy="1143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212121"/>
                </a:solidFill>
                <a:latin typeface="Calibri"/>
              </a:rPr>
              <a:t>Star schema  ·  DevDB
8 dims  ·  7 facts  ·  7 views
serverless Gen5</a:t>
            </a:r>
          </a:p>
        </p:txBody>
      </p:sp>
      <p:sp>
        <p:nvSpPr>
          <p:cNvPr id="56" name="Right Arrow 55"/>
          <p:cNvSpPr/>
          <p:nvPr/>
        </p:nvSpPr>
        <p:spPr>
          <a:xfrm>
            <a:off x="8046720" y="3108960"/>
            <a:ext cx="411480" cy="32004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8503920" y="1280160"/>
            <a:ext cx="23317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503920" y="1280160"/>
            <a:ext cx="23317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>
                <a:solidFill>
                  <a:srgbClr val="C62828"/>
                </a:solidFill>
                <a:latin typeface="Calibri"/>
              </a:rPr>
              <a:t>🔴 Databricks · 6 PySpark notebooks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503920" y="1920240"/>
            <a:ext cx="2331720" cy="118872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7B1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503920" y="1965960"/>
            <a:ext cx="233172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7B1FA2"/>
                </a:solidFill>
                <a:latin typeface="Calibri"/>
              </a:rPr>
              <a:t>🤖  KNIME Server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95360" y="2286000"/>
            <a:ext cx="214884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212121"/>
                </a:solidFill>
                <a:latin typeface="Calibri"/>
              </a:rPr>
              <a:t>GBT regressors
Solar  ·  Consumption
REST  ·  09:30 daily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503920" y="3246120"/>
            <a:ext cx="2331720" cy="11887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503920" y="3291840"/>
            <a:ext cx="233172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Calibri"/>
              </a:rPr>
              <a:t>🟢  SAP Analytics Cloud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95360" y="3611880"/>
            <a:ext cx="214884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212121"/>
                </a:solidFill>
                <a:latin typeface="Calibri"/>
              </a:rPr>
              <a:t>Gold view CSV →
File Share → SAC import
(inverter combined)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503920" y="4572000"/>
            <a:ext cx="2331720" cy="128016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503920" y="4617720"/>
            <a:ext cx="233172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EF6C00"/>
                </a:solidFill>
                <a:latin typeface="Calibri"/>
              </a:rPr>
              <a:t>🟡  Power BI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95360" y="4937760"/>
            <a:ext cx="214884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212121"/>
                </a:solidFill>
                <a:latin typeface="Calibri"/>
              </a:rPr>
              <a:t>Direct Query on Gold
3 reports / templates
RLS-aware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Bellevue Data Cycle  •  HES-SO Bellevue Campus  •  ADF_DataCycleProject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4.  Architecture — 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What runs where, and how it's secured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30200" y="1193800"/>
            <a:ext cx="2235200" cy="508000"/>
          </a:xfrm>
          <a:prstGeom prst="roundRect">
            <a:avLst/>
          </a:prstGeom>
          <a:solidFill>
            <a:srgbClr val="1976D2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30200" y="1193800"/>
            <a:ext cx="2235200" cy="5080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Orchestration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0200" y="1778000"/>
            <a:ext cx="2235200" cy="463550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9900" y="1879600"/>
            <a:ext cx="1955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1976D2"/>
                </a:solidFill>
                <a:latin typeface="Calibri"/>
              </a:rPr>
              <a:t>Azure Data Factory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900" y="2133600"/>
            <a:ext cx="1955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group3-df  ·  9 pipelines  ·  19 datasets  ·  10 linked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900" y="2743200"/>
            <a:ext cx="1955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1976D2"/>
                </a:solidFill>
                <a:latin typeface="Calibri"/>
              </a:rPr>
              <a:t>Triggers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" y="2997200"/>
            <a:ext cx="1955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TRG_Daily_0715  ·  TRG_Daily_0930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900" y="3606800"/>
            <a:ext cx="1955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1976D2"/>
                </a:solidFill>
                <a:latin typeface="Calibri"/>
              </a:rPr>
              <a:t>Self-Hosted 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900" y="3873500"/>
            <a:ext cx="1955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Windows VM 10.130.25.152 — bridges SMB &amp; SFTP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4300" y="1193800"/>
            <a:ext cx="2235200" cy="508000"/>
          </a:xfrm>
          <a:prstGeom prst="roundRect">
            <a:avLst/>
          </a:prstGeom>
          <a:solidFill>
            <a:srgbClr val="C62828"/>
          </a:solidFill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654300" y="1193800"/>
            <a:ext cx="2235200" cy="5080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Compute &amp; ML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54300" y="1778000"/>
            <a:ext cx="2235200" cy="4635500"/>
          </a:xfrm>
          <a:prstGeom prst="round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94000" y="1879600"/>
            <a:ext cx="1955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Calibri"/>
              </a:rPr>
              <a:t>Azure Databricks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94000" y="2133600"/>
            <a:ext cx="1955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6 PySpark notebooks · single interactive cluster · JDBC w/ retry-backoff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94000" y="2743200"/>
            <a:ext cx="1955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Calibri"/>
              </a:rPr>
              <a:t>KNIME Server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94000" y="2997200"/>
            <a:ext cx="1955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Gradient Boosted Trees · 100 trees · lr 0.1 · max_depth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94000" y="3606800"/>
            <a:ext cx="1955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Calibri"/>
              </a:rPr>
              <a:t>REST endpoints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94000" y="3873500"/>
            <a:ext cx="1955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Data_Preparation · Model_Selection (Mon) · Solar · Consumption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78400" y="1193800"/>
            <a:ext cx="2235200" cy="508000"/>
          </a:xfrm>
          <a:prstGeom prst="roundRect">
            <a:avLst/>
          </a:prstGeom>
          <a:solidFill>
            <a:srgbClr val="FFA000"/>
          </a:solidFill>
          <a:ln w="19050">
            <a:solidFill>
              <a:srgbClr val="FF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78400" y="1193800"/>
            <a:ext cx="2235200" cy="5080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Storage &amp; Serving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78400" y="1778000"/>
            <a:ext cx="2235200" cy="46355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118100" y="1879600"/>
            <a:ext cx="1955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FA000"/>
                </a:solidFill>
                <a:latin typeface="Calibri"/>
              </a:rPr>
              <a:t>ADLS Gen2 — adlsbellevuegrp3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18100" y="2133600"/>
            <a:ext cx="1955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containers: bronze · silver · mldata · sacexport · 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18100" y="2743200"/>
            <a:ext cx="1955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FA000"/>
                </a:solidFill>
                <a:latin typeface="Calibri"/>
              </a:rPr>
              <a:t>Azure SQL — DevDB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18100" y="2997200"/>
            <a:ext cx="1955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Serverless Gen5  ·  8 dims  ·  7 facts  ·  7 analytical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18100" y="3606800"/>
            <a:ext cx="1955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FA000"/>
                </a:solidFill>
                <a:latin typeface="Calibri"/>
              </a:rPr>
              <a:t>Azure File Share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18100" y="3873500"/>
            <a:ext cx="19558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sac-export-share — SAC ingestion drop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02500" y="1193800"/>
            <a:ext cx="2235200" cy="50800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02500" y="1193800"/>
            <a:ext cx="2235200" cy="5080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Security · Ops · CI/CD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02500" y="1778000"/>
            <a:ext cx="2235200" cy="46355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442200" y="1879600"/>
            <a:ext cx="195580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Calibri"/>
              </a:rPr>
              <a:t>Azure Key Vault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42200" y="2108200"/>
            <a:ext cx="1955800" cy="355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DataCycleGroup3Keys — SQL · DBX PAT · KNIME · SHIR · SAC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42200" y="2514600"/>
            <a:ext cx="195580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Calibri"/>
              </a:rPr>
              <a:t>UAMI + OIDC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2200" y="2743200"/>
            <a:ext cx="1955800" cy="355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gh-datacycle-oidc — GitHub Actions, no client secrets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42200" y="3149600"/>
            <a:ext cx="195580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Calibri"/>
              </a:rPr>
              <a:t>RBAC + RLS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42200" y="3378200"/>
            <a:ext cx="1955800" cy="355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Director_Role · Technician_Role · BookingDivisionFilter (GDPR)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42200" y="3784600"/>
            <a:ext cx="195580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Calibri"/>
              </a:rPr>
              <a:t>Alerts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42200" y="4013200"/>
            <a:ext cx="1955800" cy="355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Action Group ar-pl-ingest-bronze-failed (1 h SLA)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42200" y="5054600"/>
            <a:ext cx="195580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Calibri"/>
              </a:rPr>
              <a:t>CI/CD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42200" y="5283200"/>
            <a:ext cx="1955800" cy="355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validate.yml (PR) · deploy-adf.yml (push to main)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42200" y="5689600"/>
            <a:ext cx="195580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Calibri"/>
              </a:rPr>
              <a:t>IaC (future)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42200" y="5918200"/>
            <a:ext cx="1955800" cy="355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Bicep + workflows ready, unwired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Bellevue Data Cycle  •  HES-SO Bellevue Campus  •  ADF_DataCycleProject</a:t>
            </a:r>
          </a:p>
        </p:txBody>
      </p:sp>
      <p:sp>
        <p:nvSpPr>
          <p:cNvPr id="60" name="GitHub Label"/>
          <p:cNvSpPr txBox="1"/>
          <p:nvPr/>
        </p:nvSpPr>
        <p:spPr>
          <a:xfrm>
            <a:off x="7442200" y="4419600"/>
            <a:ext cx="19558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200" b="1">
                <a:solidFill>
                  <a:srgbClr val="2E7D32"/>
                </a:solidFill>
                <a:latin typeface="Calibri"/>
              </a:rPr>
              <a:t>GitHub</a:t>
            </a:r>
          </a:p>
        </p:txBody>
      </p:sp>
      <p:sp>
        <p:nvSpPr>
          <p:cNvPr id="61" name="GitHub Desc"/>
          <p:cNvSpPr txBox="1"/>
          <p:nvPr/>
        </p:nvSpPr>
        <p:spPr>
          <a:xfrm>
            <a:off x="7442200" y="4648200"/>
            <a:ext cx="1955800" cy="355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Project repository hosting &amp; version control</a:t>
            </a:r>
          </a:p>
        </p:txBody>
      </p:sp>
      <p:sp>
        <p:nvSpPr>
          <p:cNvPr id="70" name="Dashboarding Header BG"/>
          <p:cNvSpPr/>
          <p:nvPr/>
        </p:nvSpPr>
        <p:spPr>
          <a:xfrm>
            <a:off x="9626600" y="1193800"/>
            <a:ext cx="2235200" cy="508000"/>
          </a:xfrm>
          <a:prstGeom prst="roundRect">
            <a:avLst>
              <a:gd name="adj" fmla="val 16667"/>
            </a:avLst>
          </a:prstGeom>
          <a:solidFill>
            <a:srgbClr val="6A1B9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1" name="Dashboarding Header"/>
          <p:cNvSpPr txBox="1"/>
          <p:nvPr/>
        </p:nvSpPr>
        <p:spPr>
          <a:xfrm>
            <a:off x="9626600" y="1193800"/>
            <a:ext cx="2235200" cy="508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Dashboarding</a:t>
            </a:r>
          </a:p>
        </p:txBody>
      </p:sp>
      <p:sp>
        <p:nvSpPr>
          <p:cNvPr id="72" name="Dashboarding Body BG"/>
          <p:cNvSpPr/>
          <p:nvPr/>
        </p:nvSpPr>
        <p:spPr>
          <a:xfrm>
            <a:off x="9626600" y="1778000"/>
            <a:ext cx="2235200" cy="4635500"/>
          </a:xfrm>
          <a:prstGeom prst="roundRect">
            <a:avLst>
              <a:gd name="adj" fmla="val 16667"/>
            </a:avLst>
          </a:prstGeom>
          <a:solidFill>
            <a:srgbClr val="F3E5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3" name="SAC Label"/>
          <p:cNvSpPr txBox="1"/>
          <p:nvPr/>
        </p:nvSpPr>
        <p:spPr>
          <a:xfrm>
            <a:off x="9766300" y="1879600"/>
            <a:ext cx="19558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200" b="1">
                <a:solidFill>
                  <a:srgbClr val="6A1B9A"/>
                </a:solidFill>
                <a:latin typeface="Calibri"/>
              </a:rPr>
              <a:t>SAP Analytics Cloud</a:t>
            </a:r>
          </a:p>
        </p:txBody>
      </p:sp>
      <p:sp>
        <p:nvSpPr>
          <p:cNvPr id="74" name="SAC Desc"/>
          <p:cNvSpPr txBox="1"/>
          <p:nvPr/>
        </p:nvSpPr>
        <p:spPr>
          <a:xfrm>
            <a:off x="9766300" y="2133600"/>
            <a:ext cx="1955800" cy="635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Enterprise dashboards &amp; SAC ingestion from file share</a:t>
            </a:r>
          </a:p>
        </p:txBody>
      </p:sp>
      <p:sp>
        <p:nvSpPr>
          <p:cNvPr id="75" name="PBI Label"/>
          <p:cNvSpPr txBox="1"/>
          <p:nvPr/>
        </p:nvSpPr>
        <p:spPr>
          <a:xfrm>
            <a:off x="9766300" y="2743200"/>
            <a:ext cx="19558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200" b="1">
                <a:solidFill>
                  <a:srgbClr val="6A1B9A"/>
                </a:solidFill>
                <a:latin typeface="Calibri"/>
              </a:rPr>
              <a:t>Power BI</a:t>
            </a:r>
          </a:p>
        </p:txBody>
      </p:sp>
      <p:sp>
        <p:nvSpPr>
          <p:cNvPr id="76" name="PBI Desc"/>
          <p:cNvSpPr txBox="1"/>
          <p:nvPr/>
        </p:nvSpPr>
        <p:spPr>
          <a:xfrm>
            <a:off x="9766300" y="2997200"/>
            <a:ext cx="1955800" cy="635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3 reports/templates · RLS-aware</a:t>
            </a:r>
          </a:p>
        </p:txBody>
      </p:sp>
    </p:spTree>
    <p:extLst>
      <p:ext uri="{BB962C8B-B14F-4D97-AF65-F5344CB8AC3E}">
        <p14:creationId xmlns:p14="http://schemas.microsoft.com/office/powerpoint/2010/main" val="16851152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5.  Data Flow — daily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Two ADF triggers drive the entire cycle  ·  fully deterministic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74320" y="1097280"/>
            <a:ext cx="11521440" cy="233172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0D47A1"/>
                </a:solidFill>
                <a:latin typeface="Calibri"/>
              </a:rPr>
              <a:t>TRG_Daily_0715  · 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Master pipeline PL_Ingest_Bronze, then Databricks ETL, then SAC export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567" y="1874519"/>
            <a:ext cx="21945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18007" y="1947671"/>
            <a:ext cx="777240" cy="274320"/>
          </a:xfrm>
          <a:prstGeom prst="round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8007" y="1947671"/>
            <a:ext cx="77724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07:15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007" y="2285999"/>
            <a:ext cx="2011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  <a:latin typeface="Calibri"/>
              </a:rPr>
              <a:t>PL_Ingest_Bronze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007" y="2651759"/>
            <a:ext cx="20116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4 parallel sub-pipelines
(Solar · Bookings · Meteo · Conso)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575407" y="2468879"/>
            <a:ext cx="182880" cy="18288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712567" y="1874519"/>
            <a:ext cx="21945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55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804007" y="1947671"/>
            <a:ext cx="777240" cy="274320"/>
          </a:xfrm>
          <a:prstGeom prst="roundRect">
            <a:avLst/>
          </a:prstGeom>
          <a:solidFill>
            <a:srgbClr val="45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804007" y="1947671"/>
            <a:ext cx="77724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07:45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4007" y="2285999"/>
            <a:ext cx="2011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  <a:latin typeface="Calibri"/>
              </a:rPr>
              <a:t>silver_transformation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04007" y="2651759"/>
            <a:ext cx="20116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Bronze → Silver (Parquet)
UTF-16, GDPR, dedup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861407" y="2468879"/>
            <a:ext cx="182880" cy="18288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998567" y="1874519"/>
            <a:ext cx="21945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090007" y="1947671"/>
            <a:ext cx="777240" cy="274320"/>
          </a:xfrm>
          <a:prstGeom prst="roundRect">
            <a:avLst/>
          </a:prstGeom>
          <a:solidFill>
            <a:srgbClr val="FF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90007" y="1947671"/>
            <a:ext cx="77724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08:15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90007" y="2285999"/>
            <a:ext cx="2011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  <a:latin typeface="Calibri"/>
              </a:rPr>
              <a:t>silver_gold_dimensions  ‖  ml_export_to_knime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90007" y="2651759"/>
            <a:ext cx="20116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Dim MERGE  ·  ML CSV export
(parallel)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147407" y="2468879"/>
            <a:ext cx="182880" cy="18288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284567" y="1874519"/>
            <a:ext cx="21945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376007" y="1947671"/>
            <a:ext cx="777240" cy="274320"/>
          </a:xfrm>
          <a:prstGeom prst="roundRect">
            <a:avLst/>
          </a:prstGeom>
          <a:solidFill>
            <a:srgbClr val="FF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76007" y="1947671"/>
            <a:ext cx="77724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08:35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6007" y="2285999"/>
            <a:ext cx="2011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  <a:latin typeface="Calibri"/>
              </a:rPr>
              <a:t>silver_gold_facts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6007" y="2651759"/>
            <a:ext cx="20116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Watermark incremental load
7 fact tables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433407" y="2468879"/>
            <a:ext cx="182880" cy="18288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9570567" y="1874519"/>
            <a:ext cx="21945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662007" y="1947671"/>
            <a:ext cx="777240" cy="27432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662007" y="1947671"/>
            <a:ext cx="77724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09:05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62007" y="2285999"/>
            <a:ext cx="2011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  <a:latin typeface="Calibri"/>
              </a:rPr>
              <a:t>PL_SAC_Export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62007" y="2651759"/>
            <a:ext cx="20116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Coalesced CSV → File Share
→ SAC import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" y="3611880"/>
            <a:ext cx="11521440" cy="260604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7B1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37033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7B1FA2"/>
                </a:solidFill>
                <a:latin typeface="Calibri"/>
              </a:rPr>
              <a:t>TRG_Daily_0930  ·  ML Inference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02336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PL_Upload_Pred_Gold — KNIME REST + ml_load_predictions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6567" y="4434840"/>
            <a:ext cx="21945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B1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18007" y="4507992"/>
            <a:ext cx="777240" cy="274320"/>
          </a:xfrm>
          <a:prstGeom prst="round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18007" y="4507992"/>
            <a:ext cx="77724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09:30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8007" y="4846320"/>
            <a:ext cx="2011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  <a:latin typeface="Calibri"/>
              </a:rPr>
              <a:t>Data_Preparation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8007" y="5212080"/>
            <a:ext cx="20116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KNIME REST · always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2575407" y="5029200"/>
            <a:ext cx="182880" cy="18288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2712567" y="4434840"/>
            <a:ext cx="21945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B1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2804007" y="4507992"/>
            <a:ext cx="777240" cy="274320"/>
          </a:xfrm>
          <a:prstGeom prst="round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804007" y="4507992"/>
            <a:ext cx="77724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09:35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4007" y="4846320"/>
            <a:ext cx="2011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  <a:latin typeface="Calibri"/>
              </a:rPr>
              <a:t>Model_Selection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4007" y="5212080"/>
            <a:ext cx="20116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KNIME REST · Mondays only
(re-evaluate active model)</a:t>
            </a:r>
          </a:p>
        </p:txBody>
      </p:sp>
      <p:sp>
        <p:nvSpPr>
          <p:cNvPr id="52" name="Right Arrow 51"/>
          <p:cNvSpPr/>
          <p:nvPr/>
        </p:nvSpPr>
        <p:spPr>
          <a:xfrm>
            <a:off x="4861407" y="5029200"/>
            <a:ext cx="182880" cy="18288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4998567" y="4434840"/>
            <a:ext cx="21945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B1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5090007" y="4507992"/>
            <a:ext cx="777240" cy="274320"/>
          </a:xfrm>
          <a:prstGeom prst="round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090007" y="4507992"/>
            <a:ext cx="77724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09:45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90007" y="4846320"/>
            <a:ext cx="2011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  <a:latin typeface="Calibri"/>
              </a:rPr>
              <a:t>Solar  ‖  Consumption predictors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90007" y="5212080"/>
            <a:ext cx="20116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Two GBT regressors
run in parallel</a:t>
            </a:r>
          </a:p>
        </p:txBody>
      </p:sp>
      <p:sp>
        <p:nvSpPr>
          <p:cNvPr id="58" name="Right Arrow 57"/>
          <p:cNvSpPr/>
          <p:nvPr/>
        </p:nvSpPr>
        <p:spPr>
          <a:xfrm>
            <a:off x="7147407" y="5029200"/>
            <a:ext cx="182880" cy="18288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7284567" y="4434840"/>
            <a:ext cx="21945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B1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7376007" y="4507992"/>
            <a:ext cx="777240" cy="274320"/>
          </a:xfrm>
          <a:prstGeom prst="round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376007" y="4507992"/>
            <a:ext cx="77724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10:00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76007" y="4846320"/>
            <a:ext cx="2011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  <a:latin typeface="Calibri"/>
              </a:rPr>
              <a:t>ml_load_predictions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76007" y="5212080"/>
            <a:ext cx="20116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Idempotent DELETE→INSERT
fact_energy_prediction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9433407" y="5029200"/>
            <a:ext cx="182880" cy="18288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9570567" y="4434840"/>
            <a:ext cx="21945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9662007" y="4507992"/>
            <a:ext cx="777240" cy="274320"/>
          </a:xfrm>
          <a:prstGeom prst="round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662007" y="4507992"/>
            <a:ext cx="77724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10:10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62007" y="4846320"/>
            <a:ext cx="2011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  <a:latin typeface="Calibri"/>
              </a:rPr>
              <a:t>sp_backfill_prediction_actuals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62007" y="5212080"/>
            <a:ext cx="20116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Calibri"/>
              </a:rPr>
              <a:t>Joins yesterday's actuals
→ vw_prediction_accuracy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Bellevue Data Cycle  •  HES-SO Bellevue Campus  •  ADF_DataCycleProject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5.  Data Flow — Bronze ingestion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PL_Bronze_*  ·  incremental binary copy via Self-Hosted IR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0D47A1"/>
                </a:solidFill>
                <a:latin typeface="Calibri"/>
              </a:rPr>
              <a:t>Common shape — 4 sub-pipelines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645920"/>
            <a:ext cx="502920" cy="50292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5029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627632"/>
            <a:ext cx="49377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  <a:latin typeface="Calibri"/>
              </a:rPr>
              <a:t>GetMetadata · 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892808"/>
            <a:ext cx="49377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List files on the SMB / SFTP share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423160"/>
            <a:ext cx="502920" cy="50292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423160"/>
            <a:ext cx="5029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404872"/>
            <a:ext cx="49377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  <a:latin typeface="Calibri"/>
              </a:rPr>
              <a:t>GetMetadata · destination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670048"/>
            <a:ext cx="49377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List files already in bronze/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200400"/>
            <a:ext cx="502920" cy="50292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200400"/>
            <a:ext cx="5029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182112"/>
            <a:ext cx="49377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  <a:latin typeface="Calibri"/>
              </a:rPr>
              <a:t>Filter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447288"/>
            <a:ext cx="49377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Keep filenames not yet ingested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3977640"/>
            <a:ext cx="502920" cy="50292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3977640"/>
            <a:ext cx="5029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959352"/>
            <a:ext cx="49377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  <a:latin typeface="Calibri"/>
              </a:rPr>
              <a:t>ForEach (batch 50)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224528"/>
            <a:ext cx="49377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Binary Copy → bronze/&lt;area&gt;/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0D47A1"/>
                </a:solidFill>
                <a:latin typeface="Calibri"/>
              </a:rPr>
              <a:t>Sub-pipelines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1645920"/>
            <a:ext cx="5349240" cy="77724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37960" y="1719072"/>
            <a:ext cx="50749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0D47A1"/>
                </a:solidFill>
                <a:latin typeface="Calibri"/>
              </a:rPr>
              <a:t>PL_Bronze_Solar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1975104"/>
            <a:ext cx="507492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Sungrow inverter CSVs (UTF-8) + PV daily rollups (UTF-16 LE)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2514600"/>
            <a:ext cx="5349240" cy="77724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37960" y="2587752"/>
            <a:ext cx="50749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0D47A1"/>
                </a:solidFill>
                <a:latin typeface="Calibri"/>
              </a:rPr>
              <a:t>PL_Bronze_Conso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2843784"/>
            <a:ext cx="507492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Energy / temperature / humidity. Dynamic folder routing by filename prefix.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383280"/>
            <a:ext cx="5349240" cy="77724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37960" y="3456432"/>
            <a:ext cx="50749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0D47A1"/>
                </a:solidFill>
                <a:latin typeface="Calibri"/>
              </a:rPr>
              <a:t>PL_Bronze_Bookings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3712464"/>
            <a:ext cx="507492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Room reservations (TSV). French dates parsed in Silver.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4251960"/>
            <a:ext cx="5349240" cy="77724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37960" y="4325112"/>
            <a:ext cx="50749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0D47A1"/>
                </a:solidFill>
                <a:latin typeface="Calibri"/>
              </a:rPr>
              <a:t>PL_Bronze_Meteo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4581144"/>
            <a:ext cx="507492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Past weather via SFTP.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5166360"/>
            <a:ext cx="5349240" cy="109728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EF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37960" y="5230368"/>
            <a:ext cx="50749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EF6C00"/>
                </a:solidFill>
                <a:latin typeface="Calibri"/>
              </a:rPr>
              <a:t>⚠  Known limitation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5486400"/>
            <a:ext cx="507492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PL_Bronze_MeteoFuture exists but is not wired into PL_Ingest_Bronze.
Future-forecast files are still consumed from whatever already sits in bronze.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Bellevue Data Cycle  •  HES-SO Bellevue Campus  •  ADF_DataCycleProject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55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6.  Silver Transformation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silver_transformation.py  ·  Bronze CSV → Silver Parquet (overwrite)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>
                <a:solidFill>
                  <a:srgbClr val="455A64"/>
                </a:solidFill>
                <a:latin typeface="Calibri"/>
              </a:rPr>
              <a:t>Output tables  ·  silver/  container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5486400" cy="502920"/>
          </a:xfrm>
          <a:prstGeom prst="roundRect">
            <a:avLst/>
          </a:prstGeom>
          <a:solidFill>
            <a:srgbClr val="ECEFF1"/>
          </a:solidFill>
          <a:ln w="19050">
            <a:solidFill>
              <a:srgbClr val="455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645920"/>
            <a:ext cx="23774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  <a:latin typeface="Calibri"/>
              </a:rPr>
              <a:t>solar_inverters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645920"/>
            <a:ext cx="28346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1 row / inverter / minute (5 inverters)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67128"/>
            <a:ext cx="5486400" cy="502920"/>
          </a:xfrm>
          <a:prstGeom prst="roundRect">
            <a:avLst/>
          </a:prstGeom>
          <a:solidFill>
            <a:srgbClr val="ECEFF1"/>
          </a:solidFill>
          <a:ln w="19050">
            <a:solidFill>
              <a:srgbClr val="455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212848"/>
            <a:ext cx="23774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  <a:latin typeface="Calibri"/>
              </a:rPr>
              <a:t>solar_aggregated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212848"/>
            <a:ext cx="28346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Daily PV roll-up (production_delta_kwh)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34056"/>
            <a:ext cx="5486400" cy="502920"/>
          </a:xfrm>
          <a:prstGeom prst="roundRect">
            <a:avLst/>
          </a:prstGeom>
          <a:solidFill>
            <a:srgbClr val="ECEFF1"/>
          </a:solidFill>
          <a:ln w="19050">
            <a:solidFill>
              <a:srgbClr val="455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779776"/>
            <a:ext cx="23774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  <a:latin typeface="Calibri"/>
              </a:rPr>
              <a:t>weather_forecasts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779776"/>
            <a:ext cx="28346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Past weather, multi-site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00984"/>
            <a:ext cx="5486400" cy="502920"/>
          </a:xfrm>
          <a:prstGeom prst="roundRect">
            <a:avLst/>
          </a:prstGeom>
          <a:solidFill>
            <a:srgbClr val="ECEFF1"/>
          </a:solidFill>
          <a:ln w="19050">
            <a:solidFill>
              <a:srgbClr val="455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3346704"/>
            <a:ext cx="23774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  <a:latin typeface="Calibri"/>
              </a:rPr>
              <a:t>weather_future_forecasts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346704"/>
            <a:ext cx="28346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Forward 3 h forecast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867912"/>
            <a:ext cx="5486400" cy="502920"/>
          </a:xfrm>
          <a:prstGeom prst="roundRect">
            <a:avLst/>
          </a:prstGeom>
          <a:solidFill>
            <a:srgbClr val="ECEFF1"/>
          </a:solidFill>
          <a:ln w="19050">
            <a:solidFill>
              <a:srgbClr val="455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913632"/>
            <a:ext cx="23774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  <a:latin typeface="Calibri"/>
              </a:rPr>
              <a:t>bookings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913632"/>
            <a:ext cx="28346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Room reservations (GDPR-masked)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434840"/>
            <a:ext cx="5486400" cy="502920"/>
          </a:xfrm>
          <a:prstGeom prst="roundRect">
            <a:avLst/>
          </a:prstGeom>
          <a:solidFill>
            <a:srgbClr val="ECEFF1"/>
          </a:solidFill>
          <a:ln w="19050">
            <a:solidFill>
              <a:srgbClr val="455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4480560"/>
            <a:ext cx="23774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  <a:latin typeface="Calibri"/>
              </a:rPr>
              <a:t>consumption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480560"/>
            <a:ext cx="28346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Energy delta_kwh per 15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001768"/>
            <a:ext cx="5486400" cy="502920"/>
          </a:xfrm>
          <a:prstGeom prst="roundRect">
            <a:avLst/>
          </a:prstGeom>
          <a:solidFill>
            <a:srgbClr val="ECEFF1"/>
          </a:solidFill>
          <a:ln w="19050">
            <a:solidFill>
              <a:srgbClr val="455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4360" y="5047488"/>
            <a:ext cx="23774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  <a:latin typeface="Calibri"/>
              </a:rPr>
              <a:t>temperature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5047488"/>
            <a:ext cx="28346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Per-sensor readings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568696"/>
            <a:ext cx="5486400" cy="502920"/>
          </a:xfrm>
          <a:prstGeom prst="roundRect">
            <a:avLst/>
          </a:prstGeom>
          <a:solidFill>
            <a:srgbClr val="ECEFF1"/>
          </a:solidFill>
          <a:ln w="19050">
            <a:solidFill>
              <a:srgbClr val="455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4360" y="5614416"/>
            <a:ext cx="23774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  <a:latin typeface="Calibri"/>
              </a:rPr>
              <a:t>humidity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5614416"/>
            <a:ext cx="28346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Per-sensor readings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>
                <a:solidFill>
                  <a:srgbClr val="455A64"/>
                </a:solidFill>
                <a:latin typeface="Calibri"/>
              </a:rPr>
              <a:t>Key transformations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1600200"/>
            <a:ext cx="534924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55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37960" y="1655064"/>
            <a:ext cx="50749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0D47A1"/>
                </a:solidFill>
                <a:latin typeface="Calibri"/>
              </a:rPr>
              <a:t>UTF-16 BOM cleanup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1892808"/>
            <a:ext cx="507492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translate(col, '\u0000', '') before any regex — handles UTF-16 LE files (PV, conso, temp, humidity).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2359152"/>
            <a:ext cx="534924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55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37960" y="2414016"/>
            <a:ext cx="50749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0D47A1"/>
                </a:solidFill>
                <a:latin typeface="Calibri"/>
              </a:rPr>
              <a:t>Dual date parsing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2651760"/>
            <a:ext cx="507492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regexp_extract dd.MM.yy and dd.MM.yyyy → coalesce — survives mixed source formats.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118104"/>
            <a:ext cx="534924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55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37960" y="3172968"/>
            <a:ext cx="50749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0D47A1"/>
                </a:solidFill>
                <a:latin typeface="Calibri"/>
              </a:rPr>
              <a:t>Solar unpivot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3410712"/>
            <a:ext cx="507492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5 inverters per row → array&lt;struct&gt; + explode() to 1 row per inverter.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0" y="3877056"/>
            <a:ext cx="534924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55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537960" y="3931920"/>
            <a:ext cx="50749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0D47A1"/>
                </a:solidFill>
                <a:latin typeface="Calibri"/>
              </a:rPr>
              <a:t>Counter-reset logic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4169664"/>
            <a:ext cx="507492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Cumulative meter goes down ⇒ delta = NULL; lag() recomputes downstream.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0" y="4636008"/>
            <a:ext cx="534924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55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537960" y="4690872"/>
            <a:ext cx="50749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0D47A1"/>
                </a:solidFill>
                <a:latin typeface="Calibri"/>
              </a:rPr>
              <a:t>Sierre weather synthesis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4928616"/>
            <a:ext cx="507492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No physical station — average Sion + Visp forecasts to a synthetic 'Sierre' site.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0" y="5394960"/>
            <a:ext cx="534924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55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537960" y="5449824"/>
            <a:ext cx="50749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0D47A1"/>
                </a:solidFill>
                <a:latin typeface="Calibri"/>
              </a:rPr>
              <a:t>GDPR masking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37960" y="5687568"/>
            <a:ext cx="507492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SHA-256 over Professeur / Utilisateur → ProfessorMasked / UserMasked.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Bellevue Data Cycle  •  HES-SO Bellevue Campus  •  ADF_DataCycleProject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7.  Gold Transformation — notebooks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Silver Parquet → Azure SQL DevDB  ·  serverless Gen5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74320" y="1143000"/>
            <a:ext cx="5760720" cy="516636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0D47A1"/>
                </a:solidFill>
                <a:latin typeface="Calibri"/>
              </a:rPr>
              <a:t>silver_gold_dimensions.py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Idempotent MERGE pattern  ·  insert-only by default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548640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Calibri"/>
              </a:rPr>
              <a:t>•  8 dimensions: dim_inverter, dim_inverter_status, dim_weather_site, dim_measurement_type, dim_division, dim_room, dim_prediction_model, ref_electricity_tariff.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Calibri"/>
              </a:rPr>
              <a:t>•  LEFT ANTI JOIN against existing dim rows → INSERT only new keys.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Calibri"/>
              </a:rPr>
              <a:t>•  dim_prediction_model: payload diff → UPDATE when KNIME metadata drifts.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Calibri"/>
              </a:rPr>
              <a:t>•  ref_electricity_tariff: SCD2 — old row EffectiveTo = today-1, new row inserted.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Calibri"/>
              </a:rPr>
              <a:t>•  Seeds dim_inverter_status with sentinel StatusCode = 99 (Unknown) for missing codes.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074920"/>
            <a:ext cx="539496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5138928"/>
            <a:ext cx="5120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FA000"/>
                </a:solidFill>
                <a:latin typeface="Calibri"/>
              </a:rPr>
              <a:t>Why MERGE not TRUNCATE?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413248"/>
            <a:ext cx="512064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Surrogate keys must remain stable so existing facts keep their joins. Re-runs are safe — no duplicates, no orphaned facts.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143000"/>
            <a:ext cx="5760720" cy="516636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123444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0D47A1"/>
                </a:solidFill>
                <a:latin typeface="Calibri"/>
              </a:rPr>
              <a:t>silver_gold_facts.py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60020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555555"/>
                </a:solidFill>
                <a:latin typeface="Calibri"/>
              </a:rPr>
              <a:t>Watermark incremental load  ·  JDBC append + retry/backoff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920240"/>
            <a:ext cx="548640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Calibri"/>
              </a:rPr>
              <a:t>•  Watermark — SELECT MAX(DateKey) FROM &lt;fact&gt; → keep silver rows strictly newer.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Calibri"/>
              </a:rPr>
              <a:t>•  DateKey = yyyyMMdd::int  ·  TimeKey = hour*60 + minute::smallint (cheap joins).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Calibri"/>
              </a:rPr>
              <a:t>•  fact_environment uses FULL OUTER JOIN of temperature &amp; humidity (single-sensor reads survive).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Calibri"/>
              </a:rPr>
              <a:t>•  Bookings: French dates parsed with custom helper before try_to_date.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Calibri"/>
              </a:rPr>
              <a:t>•  Computed cols (RetailValue_CHF, CostCHF, IsRecurring) — SQL-side, not in INSERT list.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Calibri"/>
              </a:rPr>
              <a:t>•  Serverless pause? JDBC retry-with-backoff (20–80 s, max 5 attempts).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4937760"/>
            <a:ext cx="539496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5001768"/>
            <a:ext cx="5120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FA000"/>
                </a:solidFill>
                <a:latin typeface="Calibri"/>
              </a:rPr>
              <a:t>7 fact tables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285232"/>
            <a:ext cx="512064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fact_solar_inverter · fact_solar_production · fact_energy_consumption · fact_environment · fact_weather_forecast · fact_room_booking · fact_energy_prediction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Bellevue Data Cycle  •  HES-SO Bellevue Campus  •  ADF_DataCycleProject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7.  Gold Transformation — schema &amp; analytical 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DevDB  ·  8 dims  ·  7 facts  ·  7 BI-ready views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3840480" cy="502920"/>
          </a:xfrm>
          <a:prstGeom prst="roundRect">
            <a:avLst/>
          </a:prstGeom>
          <a:solidFill>
            <a:srgbClr val="0D47A1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188720"/>
            <a:ext cx="38404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Dimensions  (8)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783080"/>
            <a:ext cx="3840480" cy="38404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" y="1920240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dim_inverter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2304288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dim_inverter_status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688336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dim_weather_site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3072384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dim_measurement_type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456432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dim_division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840480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dim_room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4224528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dim_prediction_model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4608576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ref_electricity_tariff (SCD2)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4992624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+ dim_date · dim_time (out-of-band)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1188720"/>
            <a:ext cx="3840480" cy="502920"/>
          </a:xfrm>
          <a:prstGeom prst="roundRect">
            <a:avLst/>
          </a:prstGeom>
          <a:solidFill>
            <a:srgbClr val="FFA000"/>
          </a:solidFill>
          <a:ln w="19050">
            <a:solidFill>
              <a:srgbClr val="FF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06240" y="1188720"/>
            <a:ext cx="38404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Facts  (7)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1783080"/>
            <a:ext cx="3840480" cy="384048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70832" y="1920240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fact_solar_inverter   — (DateKey, TimeKey, InverterKey)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0832" y="2304288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fact_solar_production — (DateKey, TimeKey)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0832" y="2688336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fact_energy_consumption — (DateKey, TimeKey)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0832" y="3072384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fact_environment — (DateKey, TimeKey)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0832" y="3456432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fact_weather_forecast — (Date, Time, Site, Measurement, Horizon)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0832" y="3840480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fact_room_booking — Surrogate BookingKey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224528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fact_energy_prediction — (Date, Time, Model, RunDate)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1188720"/>
            <a:ext cx="3840480" cy="50292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138160" y="1188720"/>
            <a:ext cx="38404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Analytical views  (7)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1783080"/>
            <a:ext cx="3840480" cy="38404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02752" y="1920240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vw_inverter_status_breakdown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2" y="2304288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vw_inverter_performance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2" y="2688336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vw_prediction_accuracy   (MAPE)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2752" y="3072384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vw_daily_energy_balance  (CHF balance)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3456432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vw_building_occupation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3840480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vw_kpi_dashboard_home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2752" y="4224528"/>
            <a:ext cx="3566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vw_weather_vs_production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" y="5577840"/>
            <a:ext cx="11612880" cy="8686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1480" y="5650992"/>
            <a:ext cx="20116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0D47A1"/>
                </a:solidFill>
                <a:latin typeface="Calibri"/>
              </a:rPr>
              <a:t>Security model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" y="5897880"/>
            <a:ext cx="1133856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Director_Role · Technician_Role · BookingDivisionFilter (RLS) — fn_division_security maps each Director login to allowed DivisionKey via ref_user_division_access. db_owner / Technician bypass the filter.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Bellevue Data Cycle  •  HES-SO Bellevue Campus  •  ADF_DataCycleProject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8.  Machine Learning —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Two daily forecasts: solar production &amp; building consumption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74320" y="1143000"/>
            <a:ext cx="5760720" cy="512064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7B1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234440" cy="365760"/>
          </a:xfrm>
          <a:prstGeom prst="round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2344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PV_PROD_V1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280160"/>
            <a:ext cx="41148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>
                <a:solidFill>
                  <a:srgbClr val="7B1FA2"/>
                </a:solidFill>
                <a:latin typeface="Calibri"/>
              </a:rPr>
              <a:t>User Story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8308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>
                <a:solidFill>
                  <a:srgbClr val="0D47A1"/>
                </a:solidFill>
                <a:latin typeface="Calibri"/>
              </a:rPr>
              <a:t>Solar Production Prediction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555555"/>
                </a:solidFill>
                <a:latin typeface="Calibri"/>
              </a:rP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6888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Calibri"/>
              </a:rPr>
              <a:t>production_delta_kwh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83464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555555"/>
                </a:solidFill>
                <a:latin typeface="Calibri"/>
              </a:rPr>
              <a:t>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5486400" cy="1371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irradiance_wm2,  temp_c,  hour, minute, month, day_of_week, is_weekend, quarter_hour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6177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555555"/>
                </a:solidFill>
                <a:latin typeface="Calibri"/>
              </a:rPr>
              <a:t>Algorithm &amp; hyperparameters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892040"/>
            <a:ext cx="5486400" cy="11887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Gradient Boosted Trees Regressor
100 trees  ·  learning rate 0.1  ·  max depth 5
Trained 2023-02-20 → 2023-04-19  ·  KNIME Analytics Platform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143000"/>
            <a:ext cx="5760720" cy="512064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7B1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55080" y="1280160"/>
            <a:ext cx="1234440" cy="365760"/>
          </a:xfrm>
          <a:prstGeom prst="round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55080" y="1280160"/>
            <a:ext cx="12344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CONS_V1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1280160"/>
            <a:ext cx="41148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>
                <a:solidFill>
                  <a:srgbClr val="7B1FA2"/>
                </a:solidFill>
                <a:latin typeface="Calibri"/>
              </a:rPr>
              <a:t>User Story 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78308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>
                <a:solidFill>
                  <a:srgbClr val="0D47A1"/>
                </a:solidFill>
                <a:latin typeface="Calibri"/>
              </a:rPr>
              <a:t>Building Consumption Prediction v1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24028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555555"/>
                </a:solidFill>
                <a:latin typeface="Calibri"/>
              </a:rPr>
              <a:t>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46888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Calibri"/>
              </a:rPr>
              <a:t>consumption_delta_kwh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83464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555555"/>
                </a:solidFill>
                <a:latin typeface="Calibri"/>
              </a:rPr>
              <a:t>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063240"/>
            <a:ext cx="5486400" cy="1371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temp_c, humidity_pct, precipitation_kgm2, room_occupation_pct, hour, minute, month, day_of_week, is_weekend, is_academic_day, quarter_hour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61772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555555"/>
                </a:solidFill>
                <a:latin typeface="Calibri"/>
              </a:rPr>
              <a:t>Algorithm &amp; hyperparameters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892040"/>
            <a:ext cx="5486400" cy="11887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Gradient Boosted Trees Regressor
100 trees  ·  learning rate 0.1  ·  max depth 5
Trained 2023-02-20 → 2023-04-19  ·  KNIME Analytics Platform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Bellevue Data Cycle  •  HES-SO Bellevue Campus  •  ADF_DataCycleProject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8.  Machine Learning — lifecycle &amp;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ml_export_to_knime → KNIME Server → ml_load_predictions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7990" y="1280160"/>
            <a:ext cx="1874519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57990" y="1280160"/>
            <a:ext cx="1874519" cy="320040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7990" y="1280160"/>
            <a:ext cx="1874519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Databricks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30" y="1691640"/>
            <a:ext cx="1691639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1">
                <a:solidFill>
                  <a:srgbClr val="212121"/>
                </a:solidFill>
                <a:latin typeface="Calibri"/>
              </a:rPr>
              <a:t>ml_export_to_knime.py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430" y="2148840"/>
            <a:ext cx="1691639" cy="1645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Calibri"/>
              </a:rPr>
              <a:t>Read Silver  ·  feature engineering
3 h → 15 min weather forward-fill
room_occupation_pct via slot explode
Writes two CSVs to mldata/knime_input/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14221" y="2377440"/>
            <a:ext cx="109728" cy="18288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278229" y="1280160"/>
            <a:ext cx="1874519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278229" y="1280160"/>
            <a:ext cx="1874519" cy="320040"/>
          </a:xfrm>
          <a:prstGeom prst="round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278229" y="1280160"/>
            <a:ext cx="1874519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ADLS Gen2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69669" y="1691640"/>
            <a:ext cx="1691639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1">
                <a:solidFill>
                  <a:srgbClr val="212121"/>
                </a:solidFill>
                <a:latin typeface="Calibri"/>
              </a:rPr>
              <a:t>mldata / knime_input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69669" y="2148840"/>
            <a:ext cx="1691639" cy="1645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Calibri"/>
              </a:rPr>
              <a:t>solar_production_features.csv
consumption_features.csv
(coalesce 1, UTF-8, header)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34460" y="2377440"/>
            <a:ext cx="109728" cy="18288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198468" y="1280160"/>
            <a:ext cx="1874519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B1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198468" y="1280160"/>
            <a:ext cx="1874519" cy="320040"/>
          </a:xfrm>
          <a:prstGeom prst="round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198468" y="1280160"/>
            <a:ext cx="1874519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KNIME Server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89908" y="1691640"/>
            <a:ext cx="1691639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1">
                <a:solidFill>
                  <a:srgbClr val="212121"/>
                </a:solidFill>
                <a:latin typeface="Calibri"/>
              </a:rPr>
              <a:t>REST deployments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89908" y="2148840"/>
            <a:ext cx="1691639" cy="1645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Calibri"/>
              </a:rPr>
              <a:t>Data_Preparation (every run)
Model_Selection (Mondays)
Solar  ‖  Consumption predictors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054699" y="2377440"/>
            <a:ext cx="109728" cy="18288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118707" y="1280160"/>
            <a:ext cx="1874519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118707" y="1280160"/>
            <a:ext cx="1874519" cy="320040"/>
          </a:xfrm>
          <a:prstGeom prst="round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18707" y="1280160"/>
            <a:ext cx="1874519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ADLS Gen2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0147" y="1691640"/>
            <a:ext cx="1691639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1">
                <a:solidFill>
                  <a:srgbClr val="212121"/>
                </a:solidFill>
                <a:latin typeface="Calibri"/>
              </a:rPr>
              <a:t>mldata / knime_output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0147" y="2148840"/>
            <a:ext cx="1691639" cy="1645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Calibri"/>
              </a:rPr>
              <a:t>production_predictions.csv
consumption_predictions.csv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974938" y="2377440"/>
            <a:ext cx="109728" cy="18288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038946" y="1280160"/>
            <a:ext cx="1874519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38946" y="1280160"/>
            <a:ext cx="1874519" cy="320040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38946" y="1280160"/>
            <a:ext cx="1874519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Databricks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0386" y="1691640"/>
            <a:ext cx="1691639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1">
                <a:solidFill>
                  <a:srgbClr val="212121"/>
                </a:solidFill>
                <a:latin typeface="Calibri"/>
              </a:rPr>
              <a:t>ml_load_predictions.py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0386" y="2148840"/>
            <a:ext cx="1691639" cy="1645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Calibri"/>
              </a:rPr>
              <a:t>Resolve ModelKey from dim_prediction_model
Clamp negative preds to 0
DELETE→INSERT per run date
Writes back ml_models_config.json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895177" y="2377440"/>
            <a:ext cx="109728" cy="18288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9959185" y="1280160"/>
            <a:ext cx="1874519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9959185" y="1280160"/>
            <a:ext cx="1874519" cy="320040"/>
          </a:xfrm>
          <a:prstGeom prst="roundRect">
            <a:avLst/>
          </a:prstGeom>
          <a:solidFill>
            <a:srgbClr val="FF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959185" y="1280160"/>
            <a:ext cx="1874519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Azure 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0625" y="1691640"/>
            <a:ext cx="1691639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1">
                <a:solidFill>
                  <a:srgbClr val="212121"/>
                </a:solidFill>
                <a:latin typeface="Calibri"/>
              </a:rPr>
              <a:t>fact_energy_prediction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0625" y="2148840"/>
            <a:ext cx="1691639" cy="1645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Calibri"/>
              </a:rPr>
              <a:t>+ EXEC sp_backfill_prediction_actuals
feeds vw_prediction_accuracy (MAPE)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4160520"/>
            <a:ext cx="3759098" cy="192024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8912" y="4251960"/>
            <a:ext cx="3429914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0D47A1"/>
                </a:solidFill>
                <a:latin typeface="Calibri"/>
              </a:rPr>
              <a:t>Idempotency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" y="4663440"/>
            <a:ext cx="3429914" cy="1325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DELETE FROM fact_energy_prediction WHERE PredictionRunDateKey = &lt;today&gt; before INSERT — full replace per run date.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16298" y="4160520"/>
            <a:ext cx="3759098" cy="192024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7B1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80890" y="4251960"/>
            <a:ext cx="3429914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7B1FA2"/>
                </a:solidFill>
                <a:latin typeface="Calibri"/>
              </a:rPr>
              <a:t>Cadence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0890" y="4663440"/>
            <a:ext cx="3429914" cy="1325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TRG_Daily_0930 fires PL_Upload_Pred_Gold every day. Model_Selection re-evaluates the active model on Mondays only (pipeline().TriggerTime.DayOfWeek).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58276" y="4160520"/>
            <a:ext cx="3759098" cy="192024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322868" y="4251960"/>
            <a:ext cx="3429914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FFA000"/>
                </a:solidFill>
                <a:latin typeface="Calibri"/>
              </a:rPr>
              <a:t>Accuracy tracking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2868" y="4663440"/>
            <a:ext cx="3429914" cy="1325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sp_backfill_prediction_actuals joins yesterday's actuals onto earlier predictions; vw_prediction_accuracy exposes MAPE for BI.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Bellevue Data Cycle  •  HES-SO Bellevue Campus  •  ADF_DataCycleProject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8.  Machine Learning — KNIME workflow internals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Placeholder — fill from KNIME Hub before delivery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74320" y="1143000"/>
            <a:ext cx="11612880" cy="77724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EF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3385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EF6C00"/>
                </a:solidFill>
                <a:latin typeface="Calibri"/>
              </a:rPr>
              <a:t>ℹ  KNIME workflows live on the server — not in the Git repo.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1133856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We have the model metadata (hyperparameters, features, training window) and the integration flow, but the node graph itself sits inside KNIME deployments. Replace this slide with screenshots / node descriptions exported from KNIME.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0D47A1"/>
                </a:solidFill>
                <a:latin typeface="Calibri"/>
              </a:rPr>
              <a:t>REST deployments invoked by ADF (Run_Knime pipeline)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51760"/>
            <a:ext cx="3108960" cy="411480"/>
          </a:xfrm>
          <a:prstGeom prst="roundRect">
            <a:avLst/>
          </a:prstGeom>
          <a:solidFill>
            <a:srgbClr val="0D47A1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651760"/>
            <a:ext cx="28346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Step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2651760"/>
            <a:ext cx="2194560" cy="411480"/>
          </a:xfrm>
          <a:prstGeom prst="roundRect">
            <a:avLst/>
          </a:prstGeom>
          <a:solidFill>
            <a:srgbClr val="0D47A1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94760" y="2651760"/>
            <a:ext cx="19202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Cadence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2651760"/>
            <a:ext cx="5852160" cy="411480"/>
          </a:xfrm>
          <a:prstGeom prst="roundRect">
            <a:avLst/>
          </a:prstGeom>
          <a:solidFill>
            <a:srgbClr val="0D47A1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80760" y="2651760"/>
            <a:ext cx="55778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KNIME deployment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08960"/>
            <a:ext cx="3108960" cy="4114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3108960"/>
            <a:ext cx="28346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Data_Preparation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0" y="3108960"/>
            <a:ext cx="2194560" cy="4114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794760" y="3108960"/>
            <a:ext cx="19202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Every run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108960"/>
            <a:ext cx="5852160" cy="4114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80760" y="3108960"/>
            <a:ext cx="55778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rest:e481f0fd-89ba-409a-aaa2-d8a648956949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566160"/>
            <a:ext cx="3108960" cy="411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3566160"/>
            <a:ext cx="28346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Model_Selection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566160"/>
            <a:ext cx="2194560" cy="411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794760" y="3566160"/>
            <a:ext cx="19202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Mondays only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3566160"/>
            <a:ext cx="5852160" cy="411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080760" y="3566160"/>
            <a:ext cx="55778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rest:509f9c76-1fd3-444d-80a6-4df7848b1621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023360"/>
            <a:ext cx="3108960" cy="4114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4360" y="4023360"/>
            <a:ext cx="28346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Consumption predictor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0" y="4023360"/>
            <a:ext cx="2194560" cy="4114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794760" y="4023360"/>
            <a:ext cx="19202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Every run · 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0" y="4023360"/>
            <a:ext cx="5852160" cy="4114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80760" y="4023360"/>
            <a:ext cx="55778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rest:348633fa-f10f-4a27-99de-11e1707190cb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480560"/>
            <a:ext cx="3108960" cy="411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94360" y="4480560"/>
            <a:ext cx="28346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Solar predictor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0" y="4480560"/>
            <a:ext cx="2194560" cy="411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794760" y="4480560"/>
            <a:ext cx="19202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Every run · ‖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0" y="4480560"/>
            <a:ext cx="5852160" cy="411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080760" y="4480560"/>
            <a:ext cx="55778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rest:eb96aa91-239b-4cf2-8c7e-a8a40516d4f3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07492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0D47A1"/>
                </a:solidFill>
                <a:latin typeface="Calibri"/>
              </a:rPr>
              <a:t>What to drop on this slide before delivery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5440680"/>
            <a:ext cx="1097280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Calibri"/>
              </a:rPr>
              <a:t>•  Screenshot of each KNIME workflow (Data_Preparation, Model_Selection, Solar, Consumption).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Calibri"/>
              </a:rPr>
              <a:t>•  Per-node summary: CSV reader → joins / time features → GBT learner → predictor → CSV writer.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Calibri"/>
              </a:rPr>
              <a:t>•  Cross-validation / split strategy used during training.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12121"/>
                </a:solidFill>
                <a:latin typeface="Calibri"/>
              </a:rPr>
              <a:t>•  Holdout MAPE figures to compare to vw_prediction_accuracy in production.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Bellevue Data Cycle  •  HES-SO Bellevue Campus  •  ADF_DataCycleProject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9.  Power BI Dashboards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3 reports · DirectQuery on Gold · RLS-aware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Each report queries the analytical views in DevDB rather than the raw fact tables — centralising metric definitions and inheriting the Row-Level Security policy.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828800"/>
            <a:ext cx="3759098" cy="443484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74320" y="1828800"/>
            <a:ext cx="3759098" cy="502920"/>
          </a:xfrm>
          <a:prstGeom prst="roundRect">
            <a:avLst/>
          </a:prstGeom>
          <a:solidFill>
            <a:srgbClr val="FF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1828800"/>
            <a:ext cx="3759098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Solar Production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423160"/>
            <a:ext cx="3484778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Dashboard-Solar Production.pbix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743200"/>
            <a:ext cx="3484778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0D47A1"/>
                </a:solidFill>
                <a:latin typeface="Calibri"/>
              </a:rPr>
              <a:t>Backed 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17520"/>
            <a:ext cx="3393338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  <a:latin typeface="Calibri"/>
              </a:rPr>
              <a:t>•  vw_inverter_status_breakdown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55264"/>
            <a:ext cx="3393338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    Daily status mix per inverter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584448"/>
            <a:ext cx="3393338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  <a:latin typeface="Calibri"/>
              </a:rPr>
              <a:t>•  vw_inverter_performance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22192"/>
            <a:ext cx="3393338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    AC power vs rated capacity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51376"/>
            <a:ext cx="3393338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  <a:latin typeface="Calibri"/>
              </a:rPr>
              <a:t>•  vw_weather_vs_production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389120"/>
            <a:ext cx="3393338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    Irradiance vs actual PV (15 min)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5074920"/>
            <a:ext cx="3484778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5138928"/>
            <a:ext cx="3210458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FA000"/>
                </a:solidFill>
                <a:latin typeface="Calibri"/>
              </a:rPr>
              <a:t>Audience &amp; purpose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413248"/>
            <a:ext cx="3210458" cy="6858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Solar technicians monitor inverter health, identify panel failures and compare actual production to weather conditions.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16298" y="1828800"/>
            <a:ext cx="3759098" cy="443484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216298" y="1828800"/>
            <a:ext cx="3759098" cy="502920"/>
          </a:xfrm>
          <a:prstGeom prst="roundRect">
            <a:avLst/>
          </a:prstGeom>
          <a:solidFill>
            <a:srgbClr val="FF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16298" y="1828800"/>
            <a:ext cx="3759098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Energy &amp; Financial Overview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3458" y="2423160"/>
            <a:ext cx="3484778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Energy &amp; Financial Overview.pbit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53458" y="2743200"/>
            <a:ext cx="3484778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0D47A1"/>
                </a:solidFill>
                <a:latin typeface="Calibri"/>
              </a:rPr>
              <a:t>Backed by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9178" y="3017520"/>
            <a:ext cx="3393338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  <a:latin typeface="Calibri"/>
              </a:rPr>
              <a:t>•  vw_daily_energy_balance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9178" y="3255264"/>
            <a:ext cx="3393338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    Production vs consumption, CHF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99178" y="3584448"/>
            <a:ext cx="3393338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  <a:latin typeface="Calibri"/>
              </a:rPr>
              <a:t>•  vw_kpi_dashboard_home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9178" y="3822192"/>
            <a:ext cx="3393338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    5 KPIs at a glance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9178" y="4151376"/>
            <a:ext cx="3393338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  <a:latin typeface="Calibri"/>
              </a:rPr>
              <a:t>•  vw_prediction_accuracy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99178" y="4389120"/>
            <a:ext cx="3393338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    MAPE — solar &amp; consumption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53458" y="5074920"/>
            <a:ext cx="3484778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490618" y="5138928"/>
            <a:ext cx="3210458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FA000"/>
                </a:solidFill>
                <a:latin typeface="Calibri"/>
              </a:rPr>
              <a:t>Audience &amp; purpose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0618" y="5413248"/>
            <a:ext cx="3210458" cy="6858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Management view: net energy balance, self-sufficiency, daily costs, and how reliable our forecasts are over time.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58276" y="1828800"/>
            <a:ext cx="3759098" cy="443484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8158276" y="1828800"/>
            <a:ext cx="3759098" cy="502920"/>
          </a:xfrm>
          <a:prstGeom prst="roundRect">
            <a:avLst/>
          </a:prstGeom>
          <a:solidFill>
            <a:srgbClr val="FF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158276" y="1828800"/>
            <a:ext cx="3759098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Room Occupancy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95436" y="2423160"/>
            <a:ext cx="3484778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PowerBy_RoomOccupacy.pbit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95436" y="2743200"/>
            <a:ext cx="3484778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0D47A1"/>
                </a:solidFill>
                <a:latin typeface="Calibri"/>
              </a:rPr>
              <a:t>Backed by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1156" y="3017520"/>
            <a:ext cx="3393338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  <a:latin typeface="Calibri"/>
              </a:rPr>
              <a:t>•  vw_building_occupation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1156" y="3255264"/>
            <a:ext cx="3393338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    Occupation % per room /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41156" y="3584448"/>
            <a:ext cx="3393338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  <a:latin typeface="Calibri"/>
              </a:rPr>
              <a:t>•  fact_room_booking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41156" y="3822192"/>
            <a:ext cx="3393338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    Through RLS BookingDivisionFilter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1156" y="4151376"/>
            <a:ext cx="3393338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  <a:latin typeface="Calibri"/>
              </a:rPr>
              <a:t>•  dim_division · dim_room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41156" y="4389120"/>
            <a:ext cx="3393338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    Division- and room-level slicers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95436" y="5074920"/>
            <a:ext cx="3484778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432596" y="5138928"/>
            <a:ext cx="3210458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FA000"/>
                </a:solidFill>
                <a:latin typeface="Calibri"/>
              </a:rPr>
              <a:t>Audience &amp; purpose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32596" y="5413248"/>
            <a:ext cx="3210458" cy="6858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Director-level view, filtered by ref_user_division_access — each Director sees only their own divisions (GDPR).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Bellevue Data Cycle  •  HES-SO Bellevue Campus  •  ADF_DataCycleProject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10.  SAC Dashboards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SAP Analytics Cloud  ·  fed via Azure File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2E7D32"/>
                </a:solidFill>
                <a:latin typeface="Calibri"/>
              </a:rPr>
              <a:t>Export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5486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691640"/>
            <a:ext cx="164592" cy="1417320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50292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Calibri"/>
              </a:rPr>
              <a:t>sac_export_to_adls.py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5029200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Reads two gold views via JDBC:
vw_inverter_status_breakdown
vw_inverter_performance
LEFT JOIN at (FullDate, InverterID) → coalesce(1) writes sacexport/sac_inverter_combined.csv.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017520" y="3108960"/>
            <a:ext cx="365760" cy="18288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57200" y="3246120"/>
            <a:ext cx="5486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4592" cy="1417320"/>
          </a:xfrm>
          <a:prstGeom prst="round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337560"/>
            <a:ext cx="50292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1976D2"/>
                </a:solidFill>
                <a:latin typeface="Calibri"/>
              </a:rPr>
              <a:t>PL_SAC_Export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5029200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ADF Copy activity — binary copy to the
sac-export-share Azure File Share.
Authenticated via LS_AzureFileShare_SAC
(sacpassword from Key Vault).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017520" y="4663440"/>
            <a:ext cx="365760" cy="182880"/>
          </a:xfrm>
          <a:prstGeom prst="rightArrow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57200" y="4800600"/>
            <a:ext cx="54864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57200" y="4800600"/>
            <a:ext cx="164592" cy="141732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4892040"/>
            <a:ext cx="50292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Calibri"/>
              </a:rPr>
              <a:t>SAP Analytics Cloud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212080"/>
            <a:ext cx="5029200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Polls the file share, ingests the CSV,
refreshes the dashboard models.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18872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2E7D32"/>
                </a:solidFill>
                <a:latin typeface="Calibri"/>
              </a:rPr>
              <a:t>Solar panel failure dashboard  (US#25)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1691640"/>
            <a:ext cx="5349240" cy="10972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65392" y="1783080"/>
            <a:ext cx="50749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Calibri"/>
              </a:rPr>
              <a:t>Status breakdown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5392" y="2057400"/>
            <a:ext cx="507492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PctOfDayReadings per inverter status — spot inverters that spend more than X % of the day in fault states.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2880360"/>
            <a:ext cx="5349240" cy="10972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65392" y="2971800"/>
            <a:ext cx="50749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Calibri"/>
              </a:rPr>
              <a:t>Performance ratio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5392" y="3246120"/>
            <a:ext cx="507492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Actual AC power / rated capacity — separates a poorly-performing inverter from one simply running on a cloudy day.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4069080"/>
            <a:ext cx="5349240" cy="10972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65392" y="4160520"/>
            <a:ext cx="50749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Calibri"/>
              </a:rPr>
              <a:t>Combined 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65392" y="4434840"/>
            <a:ext cx="507492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The CSV joins both views at (FullDate, InverterID) so SAC models a single fact table with status + performance attributes.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5257800"/>
            <a:ext cx="5349240" cy="10972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65392" y="5349240"/>
            <a:ext cx="50749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Calibri"/>
              </a:rPr>
              <a:t>Why SAC, not Power BI?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5623560"/>
            <a:ext cx="507492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  <a:latin typeface="Calibri"/>
              </a:rPr>
              <a:t>SAC was a customer requirement — fits the existing SAP landscape and reaches a different audience (operations / facilities).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Bellevue Data Cycle  •  HES-SO Bellevue Campus  •  ADF_DataCycleProject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430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11.  Further improvements possible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From technical debt to product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We documented every known limitation in TECHNICAL_GUIDE.md §13 — and the repo already carries an unwired Bicep + GitHub Actions path so a fresh tenant rebuild is a few approvals away, not a re-write.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828800"/>
            <a:ext cx="2788920" cy="502920"/>
          </a:xfrm>
          <a:prstGeom prst="roundRect">
            <a:avLst/>
          </a:prstGeom>
          <a:solidFill>
            <a:srgbClr val="0D47A1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1828800"/>
            <a:ext cx="27889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Reproducibility &amp; DR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423160"/>
            <a:ext cx="2788920" cy="40690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0D47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12" y="2560320"/>
            <a:ext cx="2459736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Activate deploy-sql.yml (needs Key Vault Secrets User on UAMI).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3520440"/>
            <a:ext cx="2459736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Wire infrastructure/future/workflows/ → CI for full Bicep rebuild.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4480560"/>
            <a:ext cx="2459736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Bacpac seed for fresh DBs already in infrastructure/exported/.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1828800"/>
            <a:ext cx="2788920" cy="502920"/>
          </a:xfrm>
          <a:prstGeom prst="roundRect">
            <a:avLst/>
          </a:prstGeom>
          <a:solidFill>
            <a:srgbClr val="C62828"/>
          </a:solidFill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00400" y="1828800"/>
            <a:ext cx="27889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Code &amp; data quality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423160"/>
            <a:ext cx="2788920" cy="4069080"/>
          </a:xfrm>
          <a:prstGeom prst="round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64992" y="2560320"/>
            <a:ext cx="2459736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Unify the tariff source — currently triplicated (SQL computed col, JSON, ref_electricity_tariff SCD2).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64992" y="3520440"/>
            <a:ext cx="2459736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Add a LoadBatchId / IngestedAt to fact tables — currently no lineage.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4992" y="4480560"/>
            <a:ext cx="2459736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Wire PL_Bronze_MeteoFuture into PL_Ingest_Bronze (today it's orphaned).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5440680"/>
            <a:ext cx="2459736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Make notebook paths in ADF activities user-agnostic — they hard-code /Repos/&lt;user&gt;/.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1828800"/>
            <a:ext cx="2788920" cy="50292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26480" y="1828800"/>
            <a:ext cx="27889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Security &amp; GDPR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2423160"/>
            <a:ext cx="2788920" cy="40690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91072" y="2560320"/>
            <a:ext cx="2459736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Finish RLS rollout (US#26 / US#27 still in progress).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3520440"/>
            <a:ext cx="2459736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Provide a written GDPR compliance assessment (US#35).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1072" y="4480560"/>
            <a:ext cx="2459736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Populate ref_user_division_access for all Directors.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0" y="1828800"/>
            <a:ext cx="2788920" cy="502920"/>
          </a:xfrm>
          <a:prstGeom prst="roundRect">
            <a:avLst/>
          </a:prstGeom>
          <a:solidFill>
            <a:srgbClr val="FFA000"/>
          </a:solidFill>
          <a:ln w="19050">
            <a:solidFill>
              <a:srgbClr val="FF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052560" y="1828800"/>
            <a:ext cx="27889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Product roadmap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52560" y="2423160"/>
            <a:ext cx="2788920" cy="406908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17152" y="2560320"/>
            <a:ext cx="2459736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Internationalisation of dashboards &amp; stories (US#33).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17152" y="3520440"/>
            <a:ext cx="2459736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Scalability assessment + capacity forecast (US#34).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7152" y="4480560"/>
            <a:ext cx="2459736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Re-train ML models on a longer window (current data ends 2023-04-19).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7152" y="5440680"/>
            <a:ext cx="2459736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Calibri"/>
              </a:rPr>
              <a:t>•  Promote vw_prediction_accuracy as a first-class KPI surfaced in BI.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11612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Bellevue Data Cycle  •  HES-SO Bellevue Campus  •  ADF_DataCycleProject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9144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0">
                <a:solidFill>
                  <a:srgbClr val="FFA000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72000"/>
            <a:ext cx="10972800" cy="1371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Repository  ·  github.com/sandersdHES/ADF_DataCycleProject
Architecture diagram  ·  docs/ARCHITECTURE.md
Technical guide  ·  docs/TECHNICAL_GUIDE.md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EE3940E-D244-3740-BDA2-79964C488B19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ea3fafb0-95dc-4726-91ec-44d1636abf6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3911</Words>
  <Application>Microsoft Macintosh PowerPoint</Application>
  <PresentationFormat>Widescreen</PresentationFormat>
  <Paragraphs>516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Sanderson Dylan</cp:lastModifiedBy>
  <cp:revision>2</cp:revision>
  <dcterms:created xsi:type="dcterms:W3CDTF">2013-01-27T09:14:16Z</dcterms:created>
  <dcterms:modified xsi:type="dcterms:W3CDTF">2026-04-30T09:32:19Z</dcterms:modified>
  <cp:category/>
</cp:coreProperties>
</file>