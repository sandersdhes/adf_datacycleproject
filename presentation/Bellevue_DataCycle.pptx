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A000"/>
                </a:solidFill>
                <a:latin typeface="Calibri"/>
              </a:rPr>
              <a:t>BELLEVUE DATA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An end-to-end Azure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Ingestion  ·  Medallion Lakehouse  ·  ML Forecasting  · 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HES-SO Bellevue Campus  ·  Energy Monitoring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863" y="4937760"/>
            <a:ext cx="1517904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863" y="4937760"/>
            <a:ext cx="151790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47A1"/>
                </a:solidFill>
                <a:latin typeface="Calibri"/>
              </a:rPr>
              <a:t>Azure Data Factory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8207" y="4937760"/>
            <a:ext cx="1517904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8207" y="4937760"/>
            <a:ext cx="151790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47A1"/>
                </a:solidFill>
                <a:latin typeface="Calibri"/>
              </a:rPr>
              <a:t>Databricks (PySpark)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7551" y="4937760"/>
            <a:ext cx="1517904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7551" y="4937760"/>
            <a:ext cx="151790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47A1"/>
                </a:solidFill>
                <a:latin typeface="Calibri"/>
              </a:rPr>
              <a:t>ADLS Gen2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6895" y="4937760"/>
            <a:ext cx="1517904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6895" y="4937760"/>
            <a:ext cx="151790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47A1"/>
                </a:solidFill>
                <a:latin typeface="Calibri"/>
              </a:rPr>
              <a:t>Azure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6239" y="4937760"/>
            <a:ext cx="1517904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6239" y="4937760"/>
            <a:ext cx="151790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47A1"/>
                </a:solidFill>
                <a:latin typeface="Calibri"/>
              </a:rPr>
              <a:t>KNIME Server (GBT)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5583" y="4937760"/>
            <a:ext cx="1517904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5583" y="4937760"/>
            <a:ext cx="151790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47A1"/>
                </a:solidFill>
                <a:latin typeface="Calibri"/>
              </a:rPr>
              <a:t>Power 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64927" y="4937760"/>
            <a:ext cx="1517904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4927" y="4937760"/>
            <a:ext cx="151790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47A1"/>
                </a:solidFill>
                <a:latin typeface="Calibri"/>
              </a:rPr>
              <a:t>SAP Analytics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A000"/>
                </a:solidFill>
                <a:latin typeface="Calibri"/>
              </a:rPr>
              <a:t>Project Presentation  ·  Sprint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6187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7276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Project context and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05740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3911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Team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5000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Who we are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1635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How we organised the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2724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Agile cadence, sprints, tooling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9359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90448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End-to-end system view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38912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7083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Data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68172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Daily orchestration &amp; triggers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16636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4807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Silver Transformation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45896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Bronze → Silver cleansing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128016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2801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126187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Gold Transformation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157276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Silver → Gold dims &amp; facts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03911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Machine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35000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KNIME GBT forecasts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283464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8346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281635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Power BI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12724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Operational BI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361188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611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59359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SAC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90448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SAP Analytics Cloud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4389120"/>
            <a:ext cx="640080" cy="6400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3891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37083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Further improvements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468172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Roadmap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Bellevue Data Cycle — context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Project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76072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HES-SO Bellevue campus runs solar PV, energy meters, weather sensors and a room-booking system.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Data lives on-premises (SMB / SFTP shares on a Windows VM, IP 10.130.25.152).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Goal — turn this raw operational data into reliable analytics and forecasts that staff and management can actually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Why a Medallion lakehouse?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76072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Bronze keeps raw fidelity &amp; traceability of source files.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Silver isolates cleaning, GDPR masking and dedup logic in one place.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Gold is a star schema in Azure SQL — ready for BI, ML and SAC consumption.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Deliverables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45920"/>
            <a:ext cx="5303520" cy="10515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976D2"/>
                </a:solidFill>
                <a:latin typeface="Calibri"/>
              </a:rPr>
              <a:t>Daily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48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4 sources ingested incrementally via ADF + Self-Hosted 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788920"/>
            <a:ext cx="5303520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88036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A000"/>
                </a:solidFill>
                <a:latin typeface="Calibri"/>
              </a:rPr>
              <a:t>Lakehouse + DWH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91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Bronze/Silver in ADLS Gen2, Gold in Azure SQL (8 dims, 7 facts, 7 views).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931920"/>
            <a:ext cx="5303520" cy="10515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02336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7B1FA2"/>
                </a:solidFill>
                <a:latin typeface="Calibri"/>
              </a:rPr>
              <a:t>ML forecasts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434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Solar production &amp; building consumption — KNIME Gradient Boosted Trees.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74920"/>
            <a:ext cx="5303520" cy="10515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516636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BI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577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Power BI reports + SAC dashboards, with RBAC &amp; RLS.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 Team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Group 3 — HES-SO  ·  ADF_DataCycleProject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 small, cross-functional team — every member owned at least one slice of the pipeline (ingestion, transformation, ML or BI) and reviewed each other's work via Pull Requests on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1965960"/>
            <a:ext cx="3566160" cy="19659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6607" y="2194560"/>
            <a:ext cx="822960" cy="82296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21945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219456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Member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1007" y="25603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Project lead /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10896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End-to-end architecture, ADF orchestration, CI/CD.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2767" y="1965960"/>
            <a:ext cx="3566160" cy="19659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1367" y="2194560"/>
            <a:ext cx="822960" cy="82296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1367" y="21945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5767" y="219456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5767" y="25603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Data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310896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Bronze ingestion, Self-Hosted IR, source connectivity.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527" y="1965960"/>
            <a:ext cx="3566160" cy="19659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6127" y="2194560"/>
            <a:ext cx="822960" cy="82296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6127" y="21945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0527" y="219456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Member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0527" y="25603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Data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6127" y="310896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Silver/Gold notebooks, SQL schema, data quality.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15387" y="4160520"/>
            <a:ext cx="3566160" cy="19659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43987" y="4389120"/>
            <a:ext cx="822960" cy="82296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43987" y="4389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8387" y="438912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Member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8387" y="47548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ML engineer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43987" y="530352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Feature engineering, KNIME workflows, model lifecycle.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7" y="4160520"/>
            <a:ext cx="3566160" cy="19659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8747" y="4389120"/>
            <a:ext cx="822960" cy="82296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8747" y="4389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3147" y="438912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Member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3147" y="47548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BI developer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8747" y="530352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Power BI reports, SAC dashboards, RLS.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Calibri"/>
              </a:rPr>
              <a:t>✱ Replace placeholder names/photos before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 How we organised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Agile Scrum  ·  6 sprints of 2 weeks  ·  39 user stories  ·  ~228 SP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4114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MoSCoW prioritisation per user story.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Two-week sprints, sprint reviews &amp; retros.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User stories sized in story points (planning poker).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Definition of Done shared across the team.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Daily standups during build sprints.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41148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GitHub repo + Issues / Projects board.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Pull Requests with review (validate.yml gate).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GitHub Actions (deploy-adf.yml) on push to main — OIDC, no secrets.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Excel agile plan exported to Markdown / JSON for traceability.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Architecture diagrams in Mermaid (docs/ARCHITECTURE.md).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14300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Sprint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600200"/>
            <a:ext cx="109728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600200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Sprint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03120"/>
            <a:ext cx="10972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17 Feb → 02 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493555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493555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Architecture defined, environment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57400"/>
            <a:ext cx="51206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8 SP  ·  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313432"/>
            <a:ext cx="109728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313432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16352"/>
            <a:ext cx="10972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03 Mar → 16 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359152"/>
            <a:ext cx="1480666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359152"/>
            <a:ext cx="148066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Core ingestion pipelines (solar, conso, weather)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70632"/>
            <a:ext cx="51206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24 SP  · 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026664"/>
            <a:ext cx="109728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026664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529584"/>
            <a:ext cx="10972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17 Mar → 30 Mar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072384"/>
            <a:ext cx="2282694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072384"/>
            <a:ext cx="2282694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Remaining ingestion, security,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83864"/>
            <a:ext cx="51206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37 SP  ·  Done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3739896"/>
            <a:ext cx="109728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3739896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Sprint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242816"/>
            <a:ext cx="10972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31 Mar → 13 Apr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785616"/>
            <a:ext cx="2097611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785616"/>
            <a:ext cx="2097611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Silver layer + Gold (OLAP) DB built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197096"/>
            <a:ext cx="51206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34 SP  ·  Done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4453128"/>
            <a:ext cx="109728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453128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Sprint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956048"/>
            <a:ext cx="10972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14 Apr → 27 Apr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498848"/>
            <a:ext cx="2591167" cy="41148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498848"/>
            <a:ext cx="2591167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Power BI &amp; SAC dashboards + RLS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910328"/>
            <a:ext cx="51206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42 SP  ·  In progress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0" y="5166360"/>
            <a:ext cx="109728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5166360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Sprint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5669280"/>
            <a:ext cx="10972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28 Apr → 08 May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5212080"/>
            <a:ext cx="5120640" cy="4114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5212080"/>
            <a:ext cx="5120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ML, predictions, docs, deployment, presentation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623560"/>
            <a:ext cx="51206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83 SP  ·  Planned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971032"/>
            <a:ext cx="228600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952744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Done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80" y="5971032"/>
            <a:ext cx="228600" cy="164592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5952744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In progress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5971032"/>
            <a:ext cx="228600" cy="16459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5952744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Planned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Medallion lakehouse on Azure  ·  on-prem sources → analytics-ready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976D2"/>
                </a:solidFill>
                <a:latin typeface="Calibri"/>
              </a:rPr>
              <a:t>ON-PREMISES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219456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2011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SMB ·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Room reservations (TSV)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67128"/>
            <a:ext cx="219456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2011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SMB · Conso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3288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Energy / temp / humidity (UTF-16)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054096"/>
            <a:ext cx="219456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27248"/>
            <a:ext cx="2011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SMB · Solarlogs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19856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Sungrow inverter CSVs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941064"/>
            <a:ext cx="219456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14216"/>
            <a:ext cx="2011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SFTP · Weather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06824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Past + 3 h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919472"/>
            <a:ext cx="2194560" cy="502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919472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F6C00"/>
                </a:solidFill>
                <a:latin typeface="Calibri"/>
              </a:rPr>
              <a:t>Self-Hosted IR (Win VM)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4600" y="3108960"/>
            <a:ext cx="502920" cy="32004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63240" y="1280160"/>
            <a:ext cx="2240280" cy="48463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1353312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D47A1"/>
                </a:solidFill>
                <a:latin typeface="Calibri"/>
              </a:rPr>
              <a:t>Azure Data Factory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1664208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group3-df  ·  9 pipelines  ·  2 daily triggers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72968" y="2057400"/>
            <a:ext cx="20208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7832" y="2093976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D47A1"/>
                </a:solidFill>
                <a:latin typeface="Calibri"/>
              </a:rPr>
              <a:t>PL_Ingest_Bronze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2313432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Master orchestrator (07:15)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72968" y="2624328"/>
            <a:ext cx="20208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27832" y="2660904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D47A1"/>
                </a:solidFill>
                <a:latin typeface="Calibri"/>
              </a:rPr>
              <a:t>PL_Bronze_Solar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7832" y="2880360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Inverter CSVs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72968" y="3191256"/>
            <a:ext cx="20208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3227832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D47A1"/>
                </a:solidFill>
                <a:latin typeface="Calibri"/>
              </a:rPr>
              <a:t>PL_Bronze_Bookings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7832" y="3447288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Room reservations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72968" y="3758184"/>
            <a:ext cx="20208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27832" y="3794760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D47A1"/>
                </a:solidFill>
                <a:latin typeface="Calibri"/>
              </a:rPr>
              <a:t>PL_Bronze_Meteo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7832" y="4014216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SFTP weather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72968" y="4325112"/>
            <a:ext cx="20208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4361688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D47A1"/>
                </a:solidFill>
                <a:latin typeface="Calibri"/>
              </a:rPr>
              <a:t>PL_Bronze_Conso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27832" y="4581144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Power / temp / humidity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72968" y="4892040"/>
            <a:ext cx="20208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27832" y="4928616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D47A1"/>
                </a:solidFill>
                <a:latin typeface="Calibri"/>
              </a:rPr>
              <a:t>PL_SAC_Export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7832" y="5148072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Gold → file share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72968" y="5458968"/>
            <a:ext cx="20208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7832" y="5495544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D47A1"/>
                </a:solidFill>
                <a:latin typeface="Calibri"/>
              </a:rPr>
              <a:t>PL_Upload_Pred_Gold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27832" y="5715000"/>
            <a:ext cx="1911096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KNIME (09:30)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349240" y="3108960"/>
            <a:ext cx="411480" cy="32004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806440" y="1280160"/>
            <a:ext cx="2194560" cy="141732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128016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65100"/>
                </a:solidFill>
                <a:latin typeface="Calibri"/>
              </a:rPr>
              <a:t>🥉  BRONZE  ·  ADLS Gen2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691640"/>
            <a:ext cx="192024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212121"/>
                </a:solidFill>
                <a:latin typeface="Calibri"/>
              </a:rPr>
              <a:t>Raw CSV (UTF-8 / UTF-16)
binary copy, watermarked
container  bronze/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06440" y="2788920"/>
            <a:ext cx="2194560" cy="14173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278892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455A64"/>
                </a:solidFill>
                <a:latin typeface="Calibri"/>
              </a:rPr>
              <a:t>🥈  SILVER  ·  ADLS Gen2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3200400"/>
            <a:ext cx="192024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212121"/>
                </a:solidFill>
                <a:latin typeface="Calibri"/>
              </a:rPr>
              <a:t>Parquet · cleaned · typed
UTF-16 cleanup, GDPR
dedup, Sierre synthesis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06440" y="4297680"/>
            <a:ext cx="2194560" cy="16916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06440" y="429768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🥇  GOLD  ·  Azure 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4709160"/>
            <a:ext cx="192024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212121"/>
                </a:solidFill>
                <a:latin typeface="Calibri"/>
              </a:rPr>
              <a:t>Star schema  ·  DevDB
8 dims  ·  7 facts  ·  7 views
serverless Gen5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046720" y="3108960"/>
            <a:ext cx="411480" cy="32004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503920" y="1280160"/>
            <a:ext cx="2331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0" y="1280160"/>
            <a:ext cx="2331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62828"/>
                </a:solidFill>
                <a:latin typeface="Calibri"/>
              </a:rPr>
              <a:t>🔴 Databricks · 6 PySpark notebooks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1920240"/>
            <a:ext cx="2331720" cy="11887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1965960"/>
            <a:ext cx="2331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7B1FA2"/>
                </a:solidFill>
                <a:latin typeface="Calibri"/>
              </a:rPr>
              <a:t>🤖  KNIME Server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0" y="2286000"/>
            <a:ext cx="2148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212121"/>
                </a:solidFill>
                <a:latin typeface="Calibri"/>
              </a:rPr>
              <a:t>GBT regressors
Solar  ·  Consumption
REST  ·  09:30 daily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03920" y="3246120"/>
            <a:ext cx="233172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3291840"/>
            <a:ext cx="2331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>🟢  SAP Analytics Cloud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3611880"/>
            <a:ext cx="2148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212121"/>
                </a:solidFill>
                <a:latin typeface="Calibri"/>
              </a:rPr>
              <a:t>Gold view CSV →
File Share → SAC import
(inverter combined)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03920" y="4572000"/>
            <a:ext cx="2331720" cy="12801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4617720"/>
            <a:ext cx="2331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F6C00"/>
                </a:solidFill>
                <a:latin typeface="Calibri"/>
              </a:rPr>
              <a:t>🟡  Power BI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4937760"/>
            <a:ext cx="21488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212121"/>
                </a:solidFill>
                <a:latin typeface="Calibri"/>
              </a:rPr>
              <a:t>Direct Query on Gold
3 reports / templates
RLS-aware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 Architecture —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What runs where, and how it's secured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1188720"/>
            <a:ext cx="2788920" cy="502920"/>
          </a:xfrm>
          <a:prstGeom prst="roundRect">
            <a:avLst/>
          </a:prstGeom>
          <a:solidFill>
            <a:srgbClr val="1976D2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18872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783080"/>
            <a:ext cx="2788920" cy="4937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  <a:latin typeface="Calibri"/>
              </a:rPr>
              <a:t>Azure Data Factory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group3-df  ·  9 pipelines  ·  19 datasets  ·  10 linked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  <a:latin typeface="Calibri"/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9923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TRG_Daily_0715  ·  TRG_Daily_0930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  <a:latin typeface="Calibri"/>
              </a:rPr>
              <a:t>Self-Hosted 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6791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Windows VM 10.130.25.152 — bridges SMB &amp; SFTP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188720"/>
            <a:ext cx="2788920" cy="502920"/>
          </a:xfrm>
          <a:prstGeom prst="roundRect">
            <a:avLst/>
          </a:prstGeom>
          <a:solidFill>
            <a:srgbClr val="C62828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18872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Compute &amp;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783080"/>
            <a:ext cx="2788920" cy="493776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87452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</a:rPr>
              <a:t>Azure Databricks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13055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6 PySpark notebooks · single interactive cluster · JDBC w/ retry-backoff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</a:rPr>
              <a:t>KNIME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9923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Gradient Boosted Trees · 100 trees · lr 0.1 · max_depth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61188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</a:rPr>
              <a:t>REST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86791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Data_Preparation · Model_Selection (Mon) · Solar · Consumption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188720"/>
            <a:ext cx="2788920" cy="502920"/>
          </a:xfrm>
          <a:prstGeom prst="roundRect">
            <a:avLst/>
          </a:prstGeom>
          <a:solidFill>
            <a:srgbClr val="FFA000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18872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Storage &amp; Serving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783080"/>
            <a:ext cx="2788920" cy="49377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87452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ADLS Gen2 — adlsbellevuegrp3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13055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containers: bronze · silver · mldata · sacexport ·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74320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Azure SQL — DevDB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99923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Serverless Gen5  ·  8 dims  ·  7 facts  ·  7 analytical 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1188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Azure File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6791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sac-export-share — SAC ingestion drop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48056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Power 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73659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3 reports/templates · RLS-aware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1188720"/>
            <a:ext cx="2788920" cy="50292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118872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Security · Ops · CI/CD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1783080"/>
            <a:ext cx="2788920" cy="4937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187452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Azure Key Vault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13055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DataCycleGroup3Keys — SQL · DBX PAT · KNIME · SHIR · SAC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74320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UAMI + OIDC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99923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gh-datacycle-oidc — GitHub Actions, no client secrets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61188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RBAC + RLS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86791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Director_Role · Technician_Role · BookingDivisionFilter (GDPR)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48056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73659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Action Group ar-pl-ingest-bronze-failed (1 h SLA)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34924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CI/CD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60527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validate.yml (PR) · deploy-adf.yml (push to main)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6217920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IaC (future)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6473952"/>
            <a:ext cx="2514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Bicep + workflows ready, unwired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 Data Flow — daily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Two ADF triggers drive the entire cycle  ·  fully deterministic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11521440" cy="23317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D47A1"/>
                </a:solidFill>
                <a:latin typeface="Calibri"/>
              </a:rPr>
              <a:t>TRG_Daily_0715  ·  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Master pipeline PL_Ingest_Bronze, then Databricks ETL, then SAC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" y="1874519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8007" y="1947671"/>
            <a:ext cx="777240" cy="27432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007" y="1947671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07:15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2285999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PL_Ingest_Bronze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" y="2651759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4 parallel sub-pipelines
(Solar · Bookings · Meteo · Conso)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75407" y="2468879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12567" y="1874519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04007" y="1947671"/>
            <a:ext cx="777240" cy="274320"/>
          </a:xfrm>
          <a:prstGeom prst="round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4007" y="1947671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07:45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4007" y="2285999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silver_transformation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4007" y="2651759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Bronze → Silver (Parquet)
UTF-16, GDPR, dedup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61407" y="2468879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98567" y="1874519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90007" y="1947671"/>
            <a:ext cx="777240" cy="274320"/>
          </a:xfrm>
          <a:prstGeom prst="round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0007" y="1947671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08:15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0007" y="2285999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silver_gold_dimensions  ‖  ml_export_to_knime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0007" y="2651759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Dim MERGE  ·  ML CSV export
(parallel)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47407" y="2468879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84567" y="1874519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76007" y="1947671"/>
            <a:ext cx="777240" cy="274320"/>
          </a:xfrm>
          <a:prstGeom prst="round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6007" y="1947671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08:35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6007" y="2285999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silver_gold_facts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6007" y="2651759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Watermark incremental load
7 fact tables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33407" y="2468879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70567" y="1874519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62007" y="1947671"/>
            <a:ext cx="77724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2007" y="1947671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09:05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2007" y="2285999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PL_SAC_Export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2007" y="2651759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Coalesced CSV → File Share
→ SAC import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3611880"/>
            <a:ext cx="11521440" cy="26060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7B1FA2"/>
                </a:solidFill>
                <a:latin typeface="Calibri"/>
              </a:rPr>
              <a:t>TRG_Daily_0930  ·  ML Inference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PL_Upload_Pred_Gold — KNIME REST + ml_load_predictions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6567" y="443484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18007" y="4507992"/>
            <a:ext cx="777240" cy="27432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8007" y="450799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09:30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007" y="48463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Data_Preparation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007" y="521208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KNIME REST · always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575407" y="5029200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712567" y="443484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4007" y="4507992"/>
            <a:ext cx="777240" cy="27432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4007" y="450799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09:35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4007" y="48463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Model_Selection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4007" y="521208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KNIME REST · Mondays only
(re-evaluate active model)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4861407" y="5029200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998567" y="443484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90007" y="4507992"/>
            <a:ext cx="777240" cy="27432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90007" y="450799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09:45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90007" y="48463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Solar  ‖  Consumption predictors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0007" y="521208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Two GBT regressors
run in parallel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147407" y="5029200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284567" y="443484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76007" y="4507992"/>
            <a:ext cx="777240" cy="27432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6007" y="450799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76007" y="48463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ml_load_predictions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76007" y="521208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Idempotent DELETE→INSERT
fact_energy_prediction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9433407" y="5029200"/>
            <a:ext cx="18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570567" y="443484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62007" y="4507992"/>
            <a:ext cx="777240" cy="27432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62007" y="450799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10:10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007" y="48463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sp_backfill_prediction_actuals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62007" y="521208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Joins yesterday's actuals
→ vw_prediction_accuracy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 Data Flow — Bronze ingestion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PL_Bronze_*  ·  incremental binary copy via Self-Hosted 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Common shape — 4 sub-pipelines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GetMetadata ·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92808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List files on the SMB / SFTP share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04872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GetMetadata ·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70048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List files already in bronze/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82112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47288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Keep filenames not yet ingested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59352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ForEach (batch 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24528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Binary Copy → bronze/&lt;area&gt;/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Sub-pipelines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45920"/>
            <a:ext cx="534924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19072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PL_Bronze_Solar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975104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Sungrow inverter CSVs (UTF-8) + PV daily rollups (UTF-16 LE)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514600"/>
            <a:ext cx="534924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587752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PL_Bronze_Conso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843784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Energy / temperature / humidity. Dynamic folder routing by filename prefix.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383280"/>
            <a:ext cx="534924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456432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PL_Bronze_Bookings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712464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Room reservations (TSV). French dates parsed in Silver.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251960"/>
            <a:ext cx="5349240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325112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PL_Bronze_Meteo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581144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Past weather via SFTP.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166360"/>
            <a:ext cx="5349240" cy="10972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230368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F6C00"/>
                </a:solidFill>
                <a:latin typeface="Calibri"/>
              </a:rPr>
              <a:t>⚠  Known limitation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486400"/>
            <a:ext cx="507492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PL_Bronze_MeteoFuture exists but is not wired into PL_Ingest_Bronze.
Future-forecast files are still consumed from whatever already sits in bronze.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  Silver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silver_transformation.py  ·  Bronze CSV → Silver Parquet (overwrite)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455A64"/>
                </a:solidFill>
                <a:latin typeface="Calibri"/>
              </a:rPr>
              <a:t>Output tables  ·  silver/ 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solar_inverters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1 row / inverter / minute (5 inverters)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67128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solar_aggregated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12848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Daily PV roll-up (production_delta_kwh)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34056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79776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weather_forecasts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79776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Past weather, multi-site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00984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46704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weather_future_forecasts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46704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Forward 3 h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67912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13632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13632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Room reservations (GDPR-masked)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34840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80560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consumption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48056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Energy delta_kwh per 15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01768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47488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temperature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047488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Per-sensor readings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68696"/>
            <a:ext cx="5486400" cy="5029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614416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humidity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614416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Per-sensor readings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455A64"/>
                </a:solidFill>
                <a:latin typeface="Calibri"/>
              </a:rPr>
              <a:t>Key transformations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600200"/>
            <a:ext cx="5349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655064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UTF-16 BOM cleanup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1892808"/>
            <a:ext cx="50749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translate(col, '\u0000', '') before any regex — handles UTF-16 LE files (PV, conso, temp, humidity).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359152"/>
            <a:ext cx="5349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414016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Dual date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651760"/>
            <a:ext cx="50749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regexp_extract dd.MM.yy and dd.MM.yyyy → coalesce — survives mixed source formats.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118104"/>
            <a:ext cx="5349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172968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Solar unpivot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410712"/>
            <a:ext cx="50749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5 inverters per row → array&lt;struct&gt; + explode() to 1 row per inverter.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877056"/>
            <a:ext cx="5349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931920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Counter-reset logic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169664"/>
            <a:ext cx="50749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Cumulative meter goes down ⇒ delta = NULL; lag() recomputes downstream.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636008"/>
            <a:ext cx="5349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690872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Sierre weather synthesis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928616"/>
            <a:ext cx="50749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No physical station — average Sion + Visp forecasts to a synthetic 'Sierre' site.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394960"/>
            <a:ext cx="5349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449824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GDPR masking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687568"/>
            <a:ext cx="50749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SHA-256 over Professeur / Utilisateur → ProfessorMasked / UserMasked.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 Gold Transformation —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Silver Parquet → Azure SQL DevDB  ·  serverless Gen5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760720" cy="5166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silver_gold_dimensions.py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Idempotent MERGE pattern  ·  insert-only by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8 dimensions: dim_inverter, dim_inverter_status, dim_weather_site, dim_measurement_type, dim_division, dim_room, dim_prediction_model, ref_electricity_tariff.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LEFT ANTI JOIN against existing dim rows → INSERT only new keys.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dim_prediction_model: payload diff → UPDATE when KNIME metadata drifts.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ref_electricity_tariff: SCD2 — old row EffectiveTo = today-1, new row inserted.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Seeds dim_inverter_status with sentinel StatusCode = 99 (Unknown) for missing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74920"/>
            <a:ext cx="5394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13892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Why MERGE not TRUNCATE?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13248"/>
            <a:ext cx="51206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Surrogate keys must remain stable so existing facts keep their joins. Re-runs are safe — no duplicates, no orphaned facts.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760720" cy="5166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34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Calibri"/>
              </a:rPr>
              <a:t>silver_gold_facts.py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Watermark incremental load  ·  JDBC append + retry/backoff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Watermark — SELECT MAX(DateKey) FROM &lt;fact&gt; → keep silver rows strictly newer.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DateKey = yyyyMMdd::int  ·  TimeKey = hour*60 + minute::smallint (cheap joins).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fact_environment uses FULL OUTER JOIN of temperature &amp; humidity (single-sensor reads survive).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Bookings: French dates parsed with custom helper before try_to_date.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Computed cols (RetailValue_CHF, CostCHF, IsRecurring) — SQL-side, not in INSERT list.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Serverless pause? JDBC retry-with-backoff (20–80 s, max 5 attempts).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937760"/>
            <a:ext cx="5394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00176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7 fact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85232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fact_solar_inverter · fact_solar_production · fact_energy_consumption · fact_environment · fact_weather_forecast · fact_room_booking · fact_energy_prediction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 Gold Transformation — schema &amp; analytical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DevDB  ·  8 dims  ·  7 facts  ·  7 BI-ready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840480" cy="502920"/>
          </a:xfrm>
          <a:prstGeom prst="roundRect">
            <a:avLst/>
          </a:prstGeom>
          <a:solidFill>
            <a:srgbClr val="0D47A1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Dimensions  (8)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3840480" cy="38404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92024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dim_inverter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30428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dim_inverter_status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688336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dim_weather_site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072384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dim_measurement_type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456432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dim_division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8404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dim_room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22452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dim_prediction_model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608576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ref_electricity_tariff (SCD2)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992624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+ dim_date · dim_time (out-of-band)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188720"/>
            <a:ext cx="3840480" cy="502920"/>
          </a:xfrm>
          <a:prstGeom prst="roundRect">
            <a:avLst/>
          </a:prstGeom>
          <a:solidFill>
            <a:srgbClr val="FFA000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18872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Facts  (7)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783080"/>
            <a:ext cx="3840480" cy="38404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192024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fact_solar_inverter   — (DateKey, TimeKey, InverterKey)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30428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fact_solar_production — (DateKey, TimeKey)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688336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fact_energy_consumption — (DateKey, TimeKey)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072384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fact_environment — (DateKey, TimeKey)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3456432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fact_weather_forecast — (Date, Time, Site, Measurement, Horizon)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8404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fact_room_booking — Surrogate BookingKey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22452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fact_energy_prediction — (Date, Time, Model, RunDate)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188720"/>
            <a:ext cx="3840480" cy="50292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18872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Analytical views  (7)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783080"/>
            <a:ext cx="3840480" cy="38404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192024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vw_inverter_status_breakdown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30428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vw_inverter_performance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688336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vw_prediction_accuracy   (MAPE)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3072384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vw_daily_energy_balance  (CHF balance)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456432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vw_building_occupation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38404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vw_kpi_dashboard_home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22452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vw_weather_vs_production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577840"/>
            <a:ext cx="11612880" cy="868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650992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</a:rPr>
              <a:t>Security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Director_Role · Technician_Role · BookingDivisionFilter (RLS) — fn_division_security maps each Director login to allowed DivisionKey via ref_user_division_access. db_owner / Technician bypass the filter.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 Machine Learning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Two daily forecasts: solar production &amp; building consumption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760720" cy="51206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234440" cy="36576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234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PV_PROD_V1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280160"/>
            <a:ext cx="4114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  <a:latin typeface="Calibri"/>
              </a:rPr>
              <a:t>User Story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Calibri"/>
              </a:rPr>
              <a:t>Solar Production Prediction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Calibri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production_delta_kwh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5486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irradiance_wm2,  temp_c,  hour, minute, month, day_of_week, is_weekend, quarter_hour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Calibri"/>
              </a:rPr>
              <a:t>Algorithm &amp; hyperparameters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54864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Gradient Boosted Trees Regressor
100 trees  ·  learning rate 0.1  ·  max depth 5
Trained 2023-02-20 → 2023-04-19  ·  KNIME Analytics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143000"/>
            <a:ext cx="5760720" cy="51206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280160"/>
            <a:ext cx="1234440" cy="36576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280160"/>
            <a:ext cx="1234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CONS_V1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280160"/>
            <a:ext cx="4114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  <a:latin typeface="Calibri"/>
              </a:rPr>
              <a:t>User Story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83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Calibri"/>
              </a:rPr>
              <a:t>Building Consumption Prediction 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402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Calibri"/>
              </a:rP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consumption_delta_kwh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Calibri"/>
              </a:rP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63240"/>
            <a:ext cx="5486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temp_c, humidity_pct, precipitation_kgm2, room_occupation_pct, hour, minute, month, day_of_week, is_weekend, is_academic_day, quarter_hour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6177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Calibri"/>
              </a:rPr>
              <a:t>Algorithm &amp; hyperparameters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892040"/>
            <a:ext cx="54864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Gradient Boosted Trees Regressor
100 trees  ·  learning rate 0.1  ·  max depth 5
Trained 2023-02-20 → 2023-04-19  ·  KNIME Analytics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 Machine Learning — lifecycle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ml_export_to_knime → KNIME Server → ml_load_predictions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7990" y="1280160"/>
            <a:ext cx="1874519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7990" y="1280160"/>
            <a:ext cx="1874519" cy="32004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990" y="1280160"/>
            <a:ext cx="187451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Databricks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30" y="1691640"/>
            <a:ext cx="1691639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ml_export_to_knime.py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30" y="2148840"/>
            <a:ext cx="1691639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Read Silver  ·  feature engineering
3 h → 15 min weather forward-fill
room_occupation_pct via slot explode
Writes two CSVs to mldata/knime_input/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14221" y="2377440"/>
            <a:ext cx="109728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78229" y="1280160"/>
            <a:ext cx="1874519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78229" y="1280160"/>
            <a:ext cx="1874519" cy="32004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8229" y="1280160"/>
            <a:ext cx="187451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ADLS Gen2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9669" y="1691640"/>
            <a:ext cx="1691639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mldata / knime_input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9669" y="2148840"/>
            <a:ext cx="1691639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solar_production_features.csv
consumption_features.csv
(coalesce 1, UTF-8, header)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34460" y="2377440"/>
            <a:ext cx="109728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98468" y="1280160"/>
            <a:ext cx="1874519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98468" y="1280160"/>
            <a:ext cx="1874519" cy="320040"/>
          </a:xfrm>
          <a:prstGeom prst="round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8468" y="1280160"/>
            <a:ext cx="187451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KNIME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9908" y="1691640"/>
            <a:ext cx="1691639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REST deployments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9908" y="2148840"/>
            <a:ext cx="1691639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Data_Preparation (every run)
Model_Selection (Mondays)
Solar  ‖  Consumption predictors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54699" y="2377440"/>
            <a:ext cx="109728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18707" y="1280160"/>
            <a:ext cx="1874519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18707" y="1280160"/>
            <a:ext cx="1874519" cy="32004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8707" y="1280160"/>
            <a:ext cx="187451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ADLS Gen2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147" y="1691640"/>
            <a:ext cx="1691639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mldata / knime_output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147" y="2148840"/>
            <a:ext cx="1691639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production_predictions.csv
consumption_predictions.csv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74938" y="2377440"/>
            <a:ext cx="109728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38946" y="1280160"/>
            <a:ext cx="1874519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38946" y="1280160"/>
            <a:ext cx="1874519" cy="32004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8946" y="1280160"/>
            <a:ext cx="187451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Databricks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0386" y="1691640"/>
            <a:ext cx="1691639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ml_load_predictions.py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0386" y="2148840"/>
            <a:ext cx="1691639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Resolve ModelKey from dim_prediction_model
Clamp negative preds to 0
DELETE→INSERT per run date
Writes back ml_models_config.json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895177" y="2377440"/>
            <a:ext cx="109728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59185" y="1280160"/>
            <a:ext cx="1874519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9185" y="1280160"/>
            <a:ext cx="1874519" cy="320040"/>
          </a:xfrm>
          <a:prstGeom prst="round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9185" y="1280160"/>
            <a:ext cx="187451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Azure 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0625" y="1691640"/>
            <a:ext cx="1691639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fact_energy_prediction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0625" y="2148840"/>
            <a:ext cx="1691639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+ EXEC sp_backfill_prediction_actuals
feeds vw_prediction_accuracy (MAPE)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160520"/>
            <a:ext cx="3759098" cy="1920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251960"/>
            <a:ext cx="342991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Calibri"/>
              </a:rPr>
              <a:t>Idempotency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4663440"/>
            <a:ext cx="342991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DELETE FROM fact_energy_prediction WHERE PredictionRunDateKey = &lt;today&gt; before INSERT — full replace per run date.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16298" y="4160520"/>
            <a:ext cx="3759098" cy="19202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0890" y="4251960"/>
            <a:ext cx="342991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Calibri"/>
              </a:rPr>
              <a:t>Cadence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0890" y="4663440"/>
            <a:ext cx="342991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TRG_Daily_0930 fires PL_Upload_Pred_Gold every day. Model_Selection re-evaluates the active model on Mondays only (pipeline().TriggerTime.DayOfWeek).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58276" y="4160520"/>
            <a:ext cx="3759098" cy="1920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2868" y="4251960"/>
            <a:ext cx="342991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A000"/>
                </a:solidFill>
                <a:latin typeface="Calibri"/>
              </a:rPr>
              <a:t>Accuracy 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2868" y="4663440"/>
            <a:ext cx="342991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sp_backfill_prediction_actuals joins yesterday's actuals onto earlier predictions; vw_prediction_accuracy exposes MAPE for BI.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 Machine Learning — KNIME workflow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Placeholder — fill from KNIME Hub before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11612880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  <a:latin typeface="Calibri"/>
              </a:rPr>
              <a:t>ℹ  KNIME workflows live on the server — not in the Git repo.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338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We have the model metadata (hyperparameters, features, training window) and the integration flow, but the node graph itself sits inside KNIME deployments. Replace this slide with screenshots / node descriptions exported from KNIME.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D47A1"/>
                </a:solidFill>
                <a:latin typeface="Calibri"/>
              </a:rPr>
              <a:t>REST deployments invoked by ADF (Run_Knime pipeline)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3108960" cy="411480"/>
          </a:xfrm>
          <a:prstGeom prst="roundRect">
            <a:avLst/>
          </a:prstGeom>
          <a:solidFill>
            <a:srgbClr val="0D47A1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651760"/>
            <a:ext cx="2194560" cy="411480"/>
          </a:xfrm>
          <a:prstGeom prst="roundRect">
            <a:avLst/>
          </a:prstGeom>
          <a:solidFill>
            <a:srgbClr val="0D47A1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651760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651760"/>
            <a:ext cx="5852160" cy="411480"/>
          </a:xfrm>
          <a:prstGeom prst="roundRect">
            <a:avLst/>
          </a:prstGeom>
          <a:solidFill>
            <a:srgbClr val="0D47A1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651760"/>
            <a:ext cx="55778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KNIME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3108960" cy="411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0896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Data_Preparation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108960"/>
            <a:ext cx="2194560" cy="411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108960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Every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108960"/>
            <a:ext cx="5852160" cy="411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108960"/>
            <a:ext cx="55778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rest:e481f0fd-89ba-409a-aaa2-d8a648956949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66160"/>
            <a:ext cx="31089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56616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Model_Selection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566160"/>
            <a:ext cx="21945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3566160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Mondays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566160"/>
            <a:ext cx="58521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566160"/>
            <a:ext cx="55778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rest:509f9c76-1fd3-444d-80a6-4df7848b1621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3108960" cy="411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02336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Consumption predictor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4023360"/>
            <a:ext cx="2194560" cy="411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4023360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Every run · 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023360"/>
            <a:ext cx="5852160" cy="411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023360"/>
            <a:ext cx="55778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rest:348633fa-f10f-4a27-99de-11e1707190cb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0560"/>
            <a:ext cx="31089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48056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Solar predictor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4480560"/>
            <a:ext cx="21945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4760" y="4480560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Every run · 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480560"/>
            <a:ext cx="58521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80560"/>
            <a:ext cx="55778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rest:eb96aa91-239b-4cf2-8c7e-a8a40516d4f3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74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D47A1"/>
                </a:solidFill>
                <a:latin typeface="Calibri"/>
              </a:rPr>
              <a:t>What to drop on this slide before 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440680"/>
            <a:ext cx="109728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Screenshot of each KNIME workflow (Data_Preparation, Model_Selection, Solar, Consumption).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Per-node summary: CSV reader → joins / time features → GBT learner → predictor → CSV writer.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Cross-validation / split strategy used during training.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 Holdout MAPE figures to compare to vw_prediction_accuracy in production.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9.  Power BI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3 reports · DirectQuery on Gold · RLS-aware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Each report queries the analytical views in DevDB rather than the raw fact tables — centralising metric definitions and inheriting the Row-Level Security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3759098" cy="4434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3759098" cy="502920"/>
          </a:xfrm>
          <a:prstGeom prst="round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3759098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Solar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348477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Dashboard-Solar Production.pbix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43200"/>
            <a:ext cx="348477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  <a:latin typeface="Calibri"/>
              </a:rPr>
              <a:t>Backed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vw_inverter_status_breakdown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55264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Daily status mix per inverter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84448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vw_inverter_performance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2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AC power vs rated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51376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vw_weather_vs_production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Irradiance vs actual PV (15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74920"/>
            <a:ext cx="3484778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38928"/>
            <a:ext cx="321045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A000"/>
                </a:solidFill>
                <a:latin typeface="Calibri"/>
              </a:rPr>
              <a:t>Audience &amp; 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13248"/>
            <a:ext cx="321045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Solar technicians monitor inverter health, identify panel failures and compare actual production to weather conditions.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6298" y="1828800"/>
            <a:ext cx="3759098" cy="4434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16298" y="1828800"/>
            <a:ext cx="3759098" cy="502920"/>
          </a:xfrm>
          <a:prstGeom prst="round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6298" y="1828800"/>
            <a:ext cx="3759098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Energy &amp; Financial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3458" y="2423160"/>
            <a:ext cx="348477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Energy &amp; Financial Overview.pbit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3458" y="2743200"/>
            <a:ext cx="348477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  <a:latin typeface="Calibri"/>
              </a:rPr>
              <a:t>Backed 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9178" y="3017520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vw_daily_energy_balance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9178" y="3255264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Production vs consumption, CHF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9178" y="3584448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vw_kpi_dashboard_home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9178" y="3822192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5 KPIs at a glance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9178" y="4151376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vw_prediction_accuracy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9178" y="4389120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MAPE — solar &amp; consumption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3458" y="5074920"/>
            <a:ext cx="3484778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0618" y="5138928"/>
            <a:ext cx="321045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A000"/>
                </a:solidFill>
                <a:latin typeface="Calibri"/>
              </a:rPr>
              <a:t>Audience &amp; purpose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0618" y="5413248"/>
            <a:ext cx="321045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Management view: net energy balance, self-sufficiency, daily costs, and how reliable our forecasts are over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8276" y="1828800"/>
            <a:ext cx="3759098" cy="4434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58276" y="1828800"/>
            <a:ext cx="3759098" cy="502920"/>
          </a:xfrm>
          <a:prstGeom prst="round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8276" y="1828800"/>
            <a:ext cx="3759098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Room Occupancy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5436" y="2423160"/>
            <a:ext cx="348477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PowerBy_RoomOccupacy.pbit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5436" y="2743200"/>
            <a:ext cx="348477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  <a:latin typeface="Calibri"/>
              </a:rPr>
              <a:t>Backed 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1156" y="3017520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vw_building_occupation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1156" y="3255264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Occupation % per room /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3584448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fact_room_booking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1156" y="3822192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Through RLS BookingDivisionFilter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1156" y="4151376"/>
            <a:ext cx="339333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Calibri"/>
              </a:rPr>
              <a:t>•  dim_division · dim_room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1156" y="4389120"/>
            <a:ext cx="339333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  Division- and room-level slicers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95436" y="5074920"/>
            <a:ext cx="3484778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2596" y="5138928"/>
            <a:ext cx="321045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A000"/>
                </a:solidFill>
                <a:latin typeface="Calibri"/>
              </a:rPr>
              <a:t>Audience &amp; purpose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2596" y="5413248"/>
            <a:ext cx="321045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Director-level view, filtered by ref_user_division_access — each Director sees only their own divisions (GDPR).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10.  SAC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SAP Analytics Cloud  ·  fed via Azure File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Export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64592" cy="141732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sac_export_to_adls.py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50292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Reads two gold views via JDBC:
vw_inverter_status_breakdown
vw_inverter_performance
LEFT JOIN at (FullDate, InverterID) → coalesce(1) writes sacexport/sac_inverter_combined.csv.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3108960"/>
            <a:ext cx="36576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164592" cy="141732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Calibri"/>
              </a:rPr>
              <a:t>PL_SAC_Export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50292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ADF Copy activity — binary copy to the
sac-export-share Azure File Share.
Authenticated via LS_AzureFileShare_SAC
(sacpassword from Key Vault).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17520" y="4663440"/>
            <a:ext cx="36576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800600"/>
            <a:ext cx="164592" cy="1417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SAP Analytics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50292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Polls the file share, ingests the CSV,
refreshes the dashboard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Solar panel failure dashboard  (US#25)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691640"/>
            <a:ext cx="534924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783080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Status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057400"/>
            <a:ext cx="5074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PctOfDayReadings per inverter status — spot inverters that spend more than X % of the day in fault states.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880360"/>
            <a:ext cx="534924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971800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Performance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246120"/>
            <a:ext cx="5074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Actual AC power / rated capacity — separates a poorly-performing inverter from one simply running on a cloudy day.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69080"/>
            <a:ext cx="534924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160520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Combined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434840"/>
            <a:ext cx="5074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The CSV joins both views at (FullDate, InverterID) so SAC models a single fact table with status + performance attributes.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257800"/>
            <a:ext cx="534924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5349240"/>
            <a:ext cx="5074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Why SAC, not Power BI?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623560"/>
            <a:ext cx="5074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SAC was a customer requirement — fits the existing SAP landscape and reaches a different audience (operations / facilities).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11.  Further improvements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From technical debt to 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We documented every known limitation in TECHNICAL_GUIDE.md §13 — and the repo already carries an unwired Bicep + GitHub Actions path so a fresh tenant rebuild is a few approvals away, not a re-write.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2788920" cy="502920"/>
          </a:xfrm>
          <a:prstGeom prst="roundRect">
            <a:avLst/>
          </a:prstGeom>
          <a:solidFill>
            <a:srgbClr val="0D47A1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Reproducibility &amp; DR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23160"/>
            <a:ext cx="2788920" cy="4069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56032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Activate deploy-sql.yml (needs Key Vault Secrets User on UAMI).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2044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Wire infrastructure/future/workflows/ → CI for full Bicep rebuild.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8056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Bacpac seed for fresh DBs already in infrastructure/exported/.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828800"/>
            <a:ext cx="2788920" cy="502920"/>
          </a:xfrm>
          <a:prstGeom prst="roundRect">
            <a:avLst/>
          </a:prstGeom>
          <a:solidFill>
            <a:srgbClr val="C62828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Code &amp; data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423160"/>
            <a:ext cx="2788920" cy="40690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56032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Unify the tariff source — currently triplicated (SQL computed col, JSON, ref_electricity_tariff SCD2).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52044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Add a LoadBatchId / IngestedAt to fact tables — currently no lineage.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448056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Wire PL_Bronze_MeteoFuture into PL_Ingest_Bronze (today it's orphaned).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544068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Make notebook paths in ADF activities user-agnostic — they hard-code /Repos/&lt;user&gt;/.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28800"/>
            <a:ext cx="2788920" cy="50292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82880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Security &amp; GDPR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423160"/>
            <a:ext cx="2788920" cy="4069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56032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Finish RLS rollout (US#26 / US#27 still in progress).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52044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Provide a written GDPR compliance assessment (US#35).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448056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Populate ref_user_division_access for all Directors.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1828800"/>
            <a:ext cx="2788920" cy="502920"/>
          </a:xfrm>
          <a:prstGeom prst="roundRect">
            <a:avLst/>
          </a:prstGeom>
          <a:solidFill>
            <a:srgbClr val="FFA000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828800"/>
            <a:ext cx="2788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2423160"/>
            <a:ext cx="2788920" cy="4069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256032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Internationalisation of dashboards &amp; stories (US#33).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352044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Scalability assessment + capacity forecast (US#34).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448056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Re-train ML models on a longer window (current data ends 2023-04-19).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5440680"/>
            <a:ext cx="245973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•  Promote vw_prediction_accuracy as a first-class KPI surfaced in BI.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Bellevue Data Cycle  •  HES-SO Bellevue Campus  •  ADF_DataCycleProject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FFA000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Repository  ·  github.com/sandersdHES/ADF_DataCycleProject
Architecture diagram  ·  docs/ARCHITECTURE.md
Technical guide  ·  docs/TECHNICAL_GUIDE.md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